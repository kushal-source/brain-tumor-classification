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42"/>
  </p:handoutMasterIdLst>
  <p:sldIdLst>
    <p:sldId id="256" r:id="rId3"/>
    <p:sldId id="257" r:id="rId5"/>
    <p:sldId id="258" r:id="rId6"/>
    <p:sldId id="265" r:id="rId7"/>
    <p:sldId id="259" r:id="rId8"/>
    <p:sldId id="264" r:id="rId9"/>
    <p:sldId id="261" r:id="rId10"/>
    <p:sldId id="267" r:id="rId11"/>
    <p:sldId id="270" r:id="rId12"/>
    <p:sldId id="271" r:id="rId13"/>
    <p:sldId id="272" r:id="rId14"/>
    <p:sldId id="273" r:id="rId15"/>
    <p:sldId id="292" r:id="rId16"/>
    <p:sldId id="293" r:id="rId17"/>
    <p:sldId id="294" r:id="rId18"/>
    <p:sldId id="275" r:id="rId19"/>
    <p:sldId id="276" r:id="rId20"/>
    <p:sldId id="300" r:id="rId21"/>
    <p:sldId id="290" r:id="rId22"/>
    <p:sldId id="288" r:id="rId23"/>
    <p:sldId id="277" r:id="rId24"/>
    <p:sldId id="295" r:id="rId25"/>
    <p:sldId id="278" r:id="rId26"/>
    <p:sldId id="279" r:id="rId27"/>
    <p:sldId id="296" r:id="rId28"/>
    <p:sldId id="280" r:id="rId29"/>
    <p:sldId id="281" r:id="rId30"/>
    <p:sldId id="297" r:id="rId31"/>
    <p:sldId id="291" r:id="rId32"/>
    <p:sldId id="298" r:id="rId33"/>
    <p:sldId id="299" r:id="rId34"/>
    <p:sldId id="283" r:id="rId35"/>
    <p:sldId id="284" r:id="rId36"/>
    <p:sldId id="286" r:id="rId37"/>
    <p:sldId id="285" r:id="rId38"/>
    <p:sldId id="301" r:id="rId39"/>
    <p:sldId id="262" r:id="rId40"/>
    <p:sldId id="260" r:id="rId41"/>
  </p:sldIdLst>
  <p:sldSz cx="12192000" cy="6858000"/>
  <p:notesSz cx="6858000" cy="9144000"/>
  <p:embeddedFontLst>
    <p:embeddedFont>
      <p:font typeface="SimSun" panose="02010600030101010101" pitchFamily="2" charset="-122"/>
      <p:regular r:id="rId46"/>
    </p:embeddedFont>
    <p:embeddedFont>
      <p:font typeface="Calibri" panose="020F0502020204030204"/>
      <p:regular r:id="rId47"/>
    </p:embeddedFont>
    <p:embeddedFont>
      <p:font typeface="Proxima Nova" panose="02000506030000020004"/>
      <p:regular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2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A2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1" d="100"/>
          <a:sy n="81" d="100"/>
        </p:scale>
        <p:origin x="725" y="58"/>
      </p:cViewPr>
      <p:guideLst>
        <p:guide orient="horz" pos="224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font" Target="fonts/font3.fntdata"/><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102949" y="3820051"/>
            <a:ext cx="6678000" cy="128905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Team Member 1:  </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Hemanshu Idariya</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92410103034</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 (</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6EC3</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a:t>
            </a:r>
            <a:endParaRPr dirty="0">
              <a:solidFill>
                <a:schemeClr val="tx1"/>
              </a:solidFill>
            </a:endParaRPr>
          </a:p>
          <a:p>
            <a:pPr marL="0" marR="0" lvl="0" indent="0" algn="l" rtl="0">
              <a:spcBef>
                <a:spcPts val="0"/>
              </a:spcBef>
              <a:spcAft>
                <a:spcPts val="0"/>
              </a:spcAft>
              <a:buNone/>
            </a:pP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Team Member 2: </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Kushal Sharma</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92410103082</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 (</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6EC3</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a:t>
            </a:r>
            <a:endParaRPr dirty="0">
              <a:solidFill>
                <a:schemeClr val="tx1"/>
              </a:solidFill>
            </a:endParaRPr>
          </a:p>
          <a:p>
            <a:pPr marL="0" marR="0" lvl="0" indent="0" algn="l" rtl="0">
              <a:spcBef>
                <a:spcPts val="0"/>
              </a:spcBef>
              <a:spcAft>
                <a:spcPts val="0"/>
              </a:spcAft>
              <a:buNone/>
            </a:pP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Team Member 3: </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Hardik Khimsuriya</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 (</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9241010304</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 (</a:t>
            </a:r>
            <a:r>
              <a:rPr lang="en-IN" alt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6EC3</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a:t>
            </a:r>
            <a:endParaRPr dirty="0">
              <a:solidFill>
                <a:schemeClr val="tx1"/>
              </a:solidFill>
            </a:endParaRPr>
          </a:p>
          <a:p>
            <a:pPr marL="0" marR="0" lvl="0" indent="0" algn="l" rtl="0">
              <a:spcBef>
                <a:spcPts val="0"/>
              </a:spcBef>
              <a:spcAft>
                <a:spcPts val="0"/>
              </a:spcAft>
              <a:buNone/>
            </a:pPr>
            <a:endParaRPr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p:txBody>
      </p:sp>
      <p:sp>
        <p:nvSpPr>
          <p:cNvPr id="89" name="Google Shape;89;p2"/>
          <p:cNvSpPr txBox="1"/>
          <p:nvPr/>
        </p:nvSpPr>
        <p:spPr>
          <a:xfrm>
            <a:off x="260985" y="2663190"/>
            <a:ext cx="11706860" cy="1221740"/>
          </a:xfrm>
          <a:prstGeom prst="rect">
            <a:avLst/>
          </a:prstGeom>
          <a:noFill/>
          <a:ln>
            <a:noFill/>
          </a:ln>
        </p:spPr>
        <p:txBody>
          <a:bodyPr spcFirstLastPara="1" wrap="square" lIns="0" tIns="12700" rIns="0" bIns="0" anchor="ctr" anchorCtr="0">
            <a:noAutofit/>
          </a:bodyPr>
          <a:lstStyle/>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800" b="1" dirty="0">
                <a:solidFill>
                  <a:srgbClr val="04A2B9"/>
                </a:solidFill>
                <a:latin typeface="Proxima Nova" panose="02000506030000020004"/>
                <a:ea typeface="Proxima Nova" panose="02000506030000020004"/>
                <a:cs typeface="Proxima Nova" panose="02000506030000020004"/>
              </a:rPr>
              <a:t>Adressing Domain Shift in Brain Tumor MRI :</a:t>
            </a:r>
            <a:endParaRPr lang="en-US" sz="2800" b="1" dirty="0">
              <a:solidFill>
                <a:srgbClr val="04A2B9"/>
              </a:solidFill>
              <a:latin typeface="Proxima Nova" panose="02000506030000020004"/>
              <a:ea typeface="Proxima Nova" panose="02000506030000020004"/>
              <a:cs typeface="Proxima Nova" panose="02000506030000020004"/>
            </a:endParaRPr>
          </a:p>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800" b="1" dirty="0">
                <a:solidFill>
                  <a:srgbClr val="04A2B9"/>
                </a:solidFill>
                <a:latin typeface="Proxima Nova" panose="02000506030000020004"/>
                <a:ea typeface="Proxima Nova" panose="02000506030000020004"/>
                <a:cs typeface="Proxima Nova" panose="02000506030000020004"/>
              </a:rPr>
              <a:t>Adversarial Networks and Systematic Deduplication</a:t>
            </a:r>
            <a:r>
              <a:rPr lang="en-US" sz="2800" dirty="0">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sz="2800" b="1" dirty="0">
              <a:latin typeface="Proxima Nova" panose="02000506030000020004" charset="0"/>
              <a:cs typeface="Proxima Nova" panose="02000506030000020004" charset="0"/>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Team ID: </a:t>
            </a:r>
            <a:r>
              <a:rPr lang="en-IN" alt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T_061</a:t>
            </a:r>
            <a:endParaRPr lang="en-IN" alt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90" name="Google Shape;90;p2"/>
          <p:cNvSpPr txBox="1"/>
          <p:nvPr/>
        </p:nvSpPr>
        <p:spPr>
          <a:xfrm>
            <a:off x="5459831" y="4676057"/>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a:solidFill>
                  <a:srgbClr val="595959"/>
                </a:solidFill>
                <a:latin typeface="Proxima Nova" panose="02000506030000020004"/>
                <a:ea typeface="Proxima Nova" panose="02000506030000020004"/>
                <a:cs typeface="Proxima Nova" panose="02000506030000020004"/>
                <a:sym typeface="Proxima Nova" panose="02000506030000020004"/>
              </a:rPr>
              <a:t>Guided By</a:t>
            </a:r>
            <a:endParaRPr lang="en-US" sz="1800" b="0" i="0" u="none" strike="noStrike" cap="none">
              <a:solidFill>
                <a:srgbClr val="595959"/>
              </a:solidFill>
              <a:latin typeface="Proxima Nova" panose="02000506030000020004"/>
              <a:ea typeface="Proxima Nova" panose="02000506030000020004"/>
              <a:cs typeface="Proxima Nova" panose="02000506030000020004"/>
              <a:sym typeface="Proxima Nova" panose="02000506030000020004"/>
            </a:endParaRPr>
          </a:p>
        </p:txBody>
      </p:sp>
      <p:sp>
        <p:nvSpPr>
          <p:cNvPr id="91" name="Google Shape;91;p2"/>
          <p:cNvSpPr txBox="1"/>
          <p:nvPr/>
        </p:nvSpPr>
        <p:spPr>
          <a:xfrm>
            <a:off x="3193926" y="5066247"/>
            <a:ext cx="5742683" cy="45847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Internal Guide: </a:t>
            </a:r>
            <a:r>
              <a:rPr lang="en-US" alt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Prof. Aswathy Nair</a:t>
            </a: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 </a:t>
            </a:r>
            <a:endParaRPr lang="en-US" dirty="0"/>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dirty="0"/>
          </a:p>
        </p:txBody>
      </p:sp>
      <p:sp>
        <p:nvSpPr>
          <p:cNvPr id="93" name="Google Shape;93;p2"/>
          <p:cNvSpPr txBox="1"/>
          <p:nvPr/>
        </p:nvSpPr>
        <p:spPr>
          <a:xfrm>
            <a:off x="2550795" y="1029335"/>
            <a:ext cx="7095490" cy="202565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M</a:t>
            </a:r>
            <a:r>
              <a:rPr lang="en-IN" alt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ini</a:t>
            </a:r>
            <a:r>
              <a:rPr 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Project (01CE</a:t>
            </a:r>
            <a:r>
              <a:rPr lang="en-US" sz="320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0</a:t>
            </a:r>
            <a:r>
              <a:rPr lang="en-IN" altLang="en-US" sz="320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609</a:t>
            </a:r>
            <a:r>
              <a:rPr 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t>
            </a:r>
            <a:endParaRPr 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endParaRPr>
          </a:p>
          <a:p>
            <a:pPr marL="12700" marR="0" lvl="0" indent="0" algn="ctr" rtl="0">
              <a:lnSpc>
                <a:spcPct val="100000"/>
              </a:lnSpc>
              <a:spcBef>
                <a:spcPts val="0"/>
              </a:spcBef>
              <a:spcAft>
                <a:spcPts val="0"/>
              </a:spcAft>
              <a:buClr>
                <a:srgbClr val="04A2B9"/>
              </a:buClr>
              <a:buSzPts val="2200"/>
              <a:buFont typeface="Proxima Nova" panose="02000506030000020004"/>
              <a:buNone/>
            </a:pPr>
            <a:r>
              <a:rPr lang="en-IN" alt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Semester 6</a:t>
            </a:r>
            <a:endParaRPr sz="3200" b="1" dirty="0"/>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Final Review </a:t>
            </a:r>
            <a:b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(11</a:t>
            </a:r>
            <a:r>
              <a:rPr lang="en-IN" alt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/0</a:t>
            </a:r>
            <a:r>
              <a:rPr lang="en-US" altLang="en-IN"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4</a:t>
            </a:r>
            <a:r>
              <a:rPr lang="en-IN" alt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/202</a:t>
            </a:r>
            <a:r>
              <a:rPr lang="en-US" altLang="en-IN"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6</a:t>
            </a: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t>
            </a:r>
            <a:b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endParaRPr sz="22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94" name="Google Shape;94;p2"/>
          <p:cNvSpPr txBox="1"/>
          <p:nvPr/>
        </p:nvSpPr>
        <p:spPr>
          <a:xfrm>
            <a:off x="2293191" y="5643518"/>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panose="02000506030000020004"/>
              <a:buNone/>
            </a:pPr>
            <a: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Department of Computer Engineering,</a:t>
            </a:r>
            <a:b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4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Faculty of Engineering &amp; Technology</a:t>
            </a:r>
            <a:r>
              <a:rPr lang="en-US" sz="36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sz="36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Outline</a:t>
            </a:r>
            <a:endParaRPr sz="2400" b="1" dirty="0">
              <a:latin typeface="Proxima Nova" panose="02000506030000020004"/>
              <a:ea typeface="Proxima Nova" panose="02000506030000020004"/>
              <a:cs typeface="Proxima Nova" panose="02000506030000020004"/>
              <a:sym typeface="Proxima Nova" panose="02000506030000020004"/>
            </a:endParaRPr>
          </a:p>
        </p:txBody>
      </p:sp>
      <p:sp>
        <p:nvSpPr>
          <p:cNvPr id="100" name="Google Shape;100;p3"/>
          <p:cNvSpPr txBox="1"/>
          <p:nvPr/>
        </p:nvSpPr>
        <p:spPr>
          <a:xfrm>
            <a:off x="646430" y="654685"/>
            <a:ext cx="9900285" cy="6198235"/>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sz="2300" dirty="0"/>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Abstract</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Introduction</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Literature Review</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Research Gap</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Problem Statement</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Objective</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Data Collection</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Proposed System (Description + Flow Diagram)</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Tools And Technicannology</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Preprocessing Pipeline</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Methodology (3 Phases - Model Details)</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Evaluation &amp; Results (BRISC + Figshare table, all model versions)</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Novelty / Our Contribution</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Conclusion</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l" rtl="0">
              <a:spcBef>
                <a:spcPts val="0"/>
              </a:spcBef>
              <a:spcAft>
                <a:spcPts val="0"/>
              </a:spcAft>
              <a:buClr>
                <a:srgbClr val="000000"/>
              </a:buClr>
              <a:buSzPts val="1700"/>
              <a:buFont typeface="Arial" panose="020B0604020202020204" pitchFamily="34" charset="0"/>
              <a:buChar char="•"/>
            </a:pPr>
            <a:r>
              <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References</a:t>
            </a:r>
            <a:r>
              <a:rPr lang="en-US" sz="2300" b="0" i="0" u="none" strike="noStrike" cap="none" dirty="0">
                <a:solidFill>
                  <a:srgbClr val="FF0000"/>
                </a:solidFill>
                <a:latin typeface="Proxima Nova" panose="02000506030000020004"/>
                <a:ea typeface="Proxima Nova" panose="02000506030000020004"/>
                <a:cs typeface="Proxima Nova" panose="02000506030000020004"/>
                <a:sym typeface="Proxima Nova" panose="02000506030000020004"/>
              </a:rPr>
              <a:t> </a:t>
            </a: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0" marR="0" lvl="0" indent="0" algn="l" rtl="0">
              <a:spcBef>
                <a:spcPts val="0"/>
              </a:spcBef>
              <a:spcAft>
                <a:spcPts val="0"/>
              </a:spcAft>
              <a:buNone/>
            </a:pPr>
            <a:endParaRPr lang="en-US" altLang="en-US" sz="23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822"/>
            <a:ext cx="2320909"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a:solidFill>
                  <a:srgbClr val="04A2B9"/>
                </a:solidFill>
                <a:latin typeface="Proxima Nova" panose="02000506030000020004"/>
                <a:ea typeface="Proxima Nova" panose="02000506030000020004"/>
                <a:cs typeface="Proxima Nova" panose="02000506030000020004"/>
                <a:sym typeface="Proxima Nova" panose="02000506030000020004"/>
              </a:rPr>
              <a:t>Abstract</a:t>
            </a:r>
            <a:endParaRPr lang="en-US" altLang="en-US" sz="2400" b="1">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567499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Lightweight CNNs claim 99% brain tumor detection accuracy but are always tested on the same dataset they trained on making their real-world reliability completely unknown.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ResNet-18 trained on BRISC 2025 with Stratified GroupKFold achieved near-perfect internal performance. On the independent Figshare composite (Figshare + Sartaj + BR35H), specificity collapsed to 52.50% while sensitivity held one in two healthy patients misdiagnosed at a new institution.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Investigating the collapse, the group found BRISC and Figshare share upstream source images, questioning Phase 1's independence. Figshare was excluded, four fresh datasets were introduced, and a pHash audit across all five revealed 27,085 of 41,497 images were duplicates or leakages leaving 14,412 truly clean images.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 DANN with Gradient Reversal Layer trained on the 14,412 verified images forced the backbone to learn scanner-invariant features  achieving AUC 0.9999, Sensitivity 0.9994, Specificity 0.9757. Remaining external degradation was traced to threshold calibration, not feature corruption, and corrected without retraining.</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a:buNone/>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Phase 1 proved single-dataset evaluation is clinically dangerous. Phase 2 proved domain adversarial training with clean data fixes it and post-hoc recalibration restores external specificity without retraining, making the system deployable across scanners.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822"/>
            <a:ext cx="2320909"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Introduction</a:t>
            </a:r>
            <a:r>
              <a:rPr lang="en-IN" altLang="en-US" sz="2400" b="1">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lang="en-US" altLang="en-US" sz="2400" b="1">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495300" y="1132840"/>
            <a:ext cx="5200015" cy="5362575"/>
          </a:xfrm>
          <a:prstGeom prst="rect">
            <a:avLst/>
          </a:prstGeom>
          <a:noFill/>
          <a:ln>
            <a:noFill/>
          </a:ln>
        </p:spPr>
        <p:txBody>
          <a:bodyPr spcFirstLastPara="1" wrap="square" lIns="91425" tIns="91425" rIns="91425" bIns="91425" anchor="t" anchorCtr="0">
            <a:noAutofit/>
          </a:bodyPr>
          <a:lstStyle/>
          <a:p>
            <a:pPr marL="285750" marR="0" lvl="0" indent="-285750" algn="just" rtl="0">
              <a:spcBef>
                <a:spcPts val="0"/>
              </a:spcBef>
              <a:spcAft>
                <a:spcPts val="0"/>
              </a:spcAft>
              <a:buClr>
                <a:srgbClr val="000000"/>
              </a:buClr>
              <a:buSzPts val="1700"/>
              <a:buFont typeface="Arial" panose="020B0604020202020204"/>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Brain tumors are one of the most dangerous medical conditions - if a tumor is missed, it can be life-threatening. This project builds an automated system to detect brain tumors from MRI images using deep learning.</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Every year, over 300,000 people worldwide are diagnosed with a brain tumor - Asia reports 3.3 per 100,000 and Europe 5.6 per 100,000 (WHO GLOBOCAN 2022[18]).</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In India alone, 40,000-50,000 new cases annually -affecting all ages including children. Many hospitals still rely on doctors manually checking MRI scans-slow, error-prone, and sometimes too late. A single missed diagnosis is not just a statistic -it is someone's life.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
        <p:nvSpPr>
          <p:cNvPr id="4" name="Text Box 3"/>
          <p:cNvSpPr txBox="1"/>
          <p:nvPr/>
        </p:nvSpPr>
        <p:spPr>
          <a:xfrm>
            <a:off x="6344920" y="1193165"/>
            <a:ext cx="4064000" cy="1179195"/>
          </a:xfrm>
          <a:prstGeom prst="rect">
            <a:avLst/>
          </a:prstGeom>
          <a:noFill/>
        </p:spPr>
        <p:txBody>
          <a:bodyPr wrap="square" rtlCol="0">
            <a:noAutofit/>
          </a:bodyPr>
          <a:p>
            <a:endParaRPr lang="en-US"/>
          </a:p>
        </p:txBody>
      </p:sp>
      <p:pic>
        <p:nvPicPr>
          <p:cNvPr id="5" name="Picture 4" descr="graphic-asr-inc-both-sexes-in-2022-brain-central-nervous-system"/>
          <p:cNvPicPr>
            <a:picLocks noChangeAspect="1"/>
          </p:cNvPicPr>
          <p:nvPr/>
        </p:nvPicPr>
        <p:blipFill>
          <a:blip r:embed="rId2"/>
          <a:stretch>
            <a:fillRect/>
          </a:stretch>
        </p:blipFill>
        <p:spPr>
          <a:xfrm>
            <a:off x="6095365" y="1292860"/>
            <a:ext cx="5507990" cy="4272915"/>
          </a:xfrm>
          <a:prstGeom prst="rect">
            <a:avLst/>
          </a:prstGeom>
        </p:spPr>
      </p:pic>
      <p:sp>
        <p:nvSpPr>
          <p:cNvPr id="2" name="Text Box 1"/>
          <p:cNvSpPr txBox="1"/>
          <p:nvPr/>
        </p:nvSpPr>
        <p:spPr>
          <a:xfrm>
            <a:off x="6817360" y="5909310"/>
            <a:ext cx="4064000" cy="306705"/>
          </a:xfrm>
          <a:prstGeom prst="rect">
            <a:avLst/>
          </a:prstGeom>
          <a:noFill/>
        </p:spPr>
        <p:txBody>
          <a:bodyPr wrap="square" rtlCol="0">
            <a:spAutoFit/>
          </a:bodyPr>
          <a:p>
            <a:pPr algn="ctr"/>
            <a:r>
              <a:rPr lang="en-US" altLang="en-US">
                <a:solidFill>
                  <a:srgbClr val="666666"/>
                </a:solidFill>
                <a:latin typeface="Proxima Nova" panose="02000506030000020004"/>
                <a:ea typeface="Proxima Nova" panose="02000506030000020004"/>
                <a:cs typeface="Proxima Nova" panose="02000506030000020004"/>
                <a:sym typeface="Proxima Nova" panose="02000506030000020004"/>
              </a:rPr>
              <a:t>WHO GLOBOCAN 2022[18]</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385318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Introduction</a:t>
            </a:r>
            <a:r>
              <a:rPr lang="en-IN" altLang="en-US" sz="2400" b="1">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lang="en-IN" altLang="en-US" sz="2400" b="1">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515175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Brain tumors Glioma, Meningioma, and Pituitary are fatal without early detection. Manual MRI examination is slow, experience dependent, and inaccessible in smaller hospitals. Deep Learning can change this.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ResNet-18 with transfer learning, a custom preprocessing pipeline, and Stratified GroupKFold cross-validation achieved near-perfect internal accuracy on BRISC 2025 consistent with published literature.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When tested on the external Figshare composite dataset scans from different scanners and institutions specificity collapsed while sensitivity held. One in two healthy patients would be misdiagnosed. The model had learned scanner identity, not tumour biology. This is Domain Shift.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Investigating the collapse, the group discovered BRISC and Figshare share upstream source images. A pHash audit across five fresh datasets found 27,085 of 41,497 images were duplicates or cross-dataset leakages leaving only 14,412 clean images, and exposing most published cross-dataset results as unreliable.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If the model learned the scanner rather than the tumour, forcing it to forget the scanner should recover specificity. A Domain Adversarial Neural Network (DANN) with a Gradient Reversal Layer, trained on verified clean data, did exactly that producing a scanner-agnostic, clinically deployable classifier.</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2872105"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IN"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 </a:t>
            </a:r>
            <a:r>
              <a:rPr lang="en-US" altLang="en-US" sz="2400" dirty="0">
                <a:solidFill>
                  <a:srgbClr val="04A2B9"/>
                </a:solidFill>
                <a:latin typeface="Proxima Nova" panose="02000506030000020004"/>
                <a:ea typeface="Proxima Nova" panose="02000506030000020004"/>
                <a:cs typeface="Proxima Nova" panose="02000506030000020004"/>
                <a:sym typeface="Proxima Nova" panose="02000506030000020004"/>
              </a:rPr>
              <a:t>Literature Review</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113" y="1124744"/>
            <a:ext cx="3000375" cy="396875"/>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dirty="0">
              <a:solidFill>
                <a:srgbClr val="FF0000"/>
              </a:solidFill>
            </a:endParaRPr>
          </a:p>
        </p:txBody>
      </p:sp>
      <p:graphicFrame>
        <p:nvGraphicFramePr>
          <p:cNvPr id="2" name="Table 1"/>
          <p:cNvGraphicFramePr/>
          <p:nvPr>
            <p:custDataLst>
              <p:tags r:id="rId2"/>
            </p:custDataLst>
          </p:nvPr>
        </p:nvGraphicFramePr>
        <p:xfrm>
          <a:off x="645795" y="1379855"/>
          <a:ext cx="10719435" cy="4747895"/>
        </p:xfrm>
        <a:graphic>
          <a:graphicData uri="http://schemas.openxmlformats.org/drawingml/2006/table">
            <a:tbl>
              <a:tblPr/>
              <a:tblGrid>
                <a:gridCol w="492760"/>
                <a:gridCol w="1847850"/>
                <a:gridCol w="1847850"/>
                <a:gridCol w="986155"/>
                <a:gridCol w="986155"/>
                <a:gridCol w="985520"/>
                <a:gridCol w="1109345"/>
                <a:gridCol w="2463800"/>
              </a:tblGrid>
              <a:tr h="497205">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Ref</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Study / Year</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Model Type</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Lightweight</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Accuracy</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k-Fold CV</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Cross-Dataset</a:t>
                      </a:r>
                      <a:endParaRPr lang="en-US" altLang="zh-CN" sz="800" b="1">
                        <a:solidFill>
                          <a:srgbClr val="FFFFFF"/>
                        </a:solidFill>
                        <a:latin typeface="Arial" panose="020B0604020202020204"/>
                        <a:ea typeface="Arial" panose="020B0604020202020204"/>
                      </a:endParaRPr>
                    </a:p>
                    <a:p>
                      <a:pPr marL="0" indent="0" algn="ctr">
                        <a:spcBef>
                          <a:spcPct val="0"/>
                        </a:spcBef>
                        <a:spcAft>
                          <a:spcPct val="0"/>
                        </a:spcAft>
                      </a:pPr>
                      <a:r>
                        <a:rPr lang="en-US" altLang="en-US" sz="800" b="1">
                          <a:solidFill>
                            <a:srgbClr val="FFFFFF"/>
                          </a:solidFill>
                          <a:latin typeface="Arial" panose="020B0604020202020204"/>
                          <a:ea typeface="Arial" panose="020B0604020202020204"/>
                        </a:rPr>
                        <a:t>Evaluation</a:t>
                      </a:r>
                      <a:endParaRPr lang="en-US" altLang="en-US"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Research Gap</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r>
              <a:tr h="633095">
                <a:tc>
                  <a:txBody>
                    <a:bodyPr/>
                    <a:p>
                      <a:pPr marL="0" indent="0">
                        <a:spcBef>
                          <a:spcPct val="0"/>
                        </a:spcBef>
                        <a:spcAft>
                          <a:spcPct val="0"/>
                        </a:spcAft>
                      </a:pPr>
                      <a:r>
                        <a:rPr lang="en-US" altLang="zh-CN" sz="800">
                          <a:latin typeface="Arial" panose="020B0604020202020204"/>
                          <a:ea typeface="Arial" panose="020B0604020202020204"/>
                        </a:rPr>
                        <a:t>[1]</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ShallowMRI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CNN + Attention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98.24-99.70%</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 (5-fold)</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 (3 datasets)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 domain adaptation analysis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r>
              <a:tr h="497840">
                <a:tc>
                  <a:txBody>
                    <a:bodyPr/>
                    <a:p>
                      <a:pPr marL="0" indent="0">
                        <a:spcBef>
                          <a:spcPct val="0"/>
                        </a:spcBef>
                        <a:spcAft>
                          <a:spcPct val="0"/>
                        </a:spcAft>
                      </a:pPr>
                      <a:r>
                        <a:rPr lang="en-US" altLang="zh-CN" sz="800">
                          <a:latin typeface="Arial" panose="020B0604020202020204"/>
                          <a:ea typeface="Arial" panose="020B0604020202020204"/>
                        </a:rPr>
                        <a:t>[2]</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Naeem et al.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5-Layer CNN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99%</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Very small dataset; overfitting risk</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497205">
                <a:tc>
                  <a:txBody>
                    <a:bodyPr/>
                    <a:p>
                      <a:pPr marL="0" indent="0">
                        <a:spcBef>
                          <a:spcPct val="0"/>
                        </a:spcBef>
                        <a:spcAft>
                          <a:spcPct val="0"/>
                        </a:spcAft>
                      </a:pPr>
                      <a:r>
                        <a:rPr lang="en-US" altLang="zh-CN" sz="800">
                          <a:latin typeface="Arial" panose="020B0604020202020204"/>
                          <a:ea typeface="Arial" panose="020B0604020202020204"/>
                        </a:rPr>
                        <a:t>[3]</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Fibonacci-Net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Custom Lightweight CNN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95-96.2%</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 (3 datasets)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 domain adaptation strategy</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r>
              <a:tr h="497205">
                <a:tc>
                  <a:txBody>
                    <a:bodyPr/>
                    <a:p>
                      <a:pPr marL="0" indent="0">
                        <a:spcBef>
                          <a:spcPct val="0"/>
                        </a:spcBef>
                        <a:spcAft>
                          <a:spcPct val="0"/>
                        </a:spcAft>
                      </a:pPr>
                      <a:r>
                        <a:rPr lang="en-US" altLang="zh-CN" sz="800">
                          <a:latin typeface="Arial" panose="020B0604020202020204"/>
                          <a:ea typeface="Arial" panose="020B0604020202020204"/>
                        </a:rPr>
                        <a:t>[4]</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Appasami &amp; Savarimuthu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Lightweight CNN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99.54%</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Cross-dataset but no domain adaptation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633730">
                <a:tc>
                  <a:txBody>
                    <a:bodyPr/>
                    <a:p>
                      <a:pPr marL="0" indent="0">
                        <a:spcBef>
                          <a:spcPct val="0"/>
                        </a:spcBef>
                        <a:spcAft>
                          <a:spcPct val="0"/>
                        </a:spcAft>
                      </a:pPr>
                      <a:r>
                        <a:rPr lang="en-US" altLang="zh-CN" sz="800">
                          <a:latin typeface="Arial" panose="020B0604020202020204"/>
                          <a:ea typeface="Arial" panose="020B0604020202020204"/>
                        </a:rPr>
                        <a:t>[5]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Res-BRNet (2024)</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Residual CNN + Region Learning</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98.22%</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Not specified</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Partial</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Weak external generalization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r>
              <a:tr h="497205">
                <a:tc>
                  <a:txBody>
                    <a:bodyPr/>
                    <a:p>
                      <a:pPr marL="0" indent="0">
                        <a:spcBef>
                          <a:spcPct val="0"/>
                        </a:spcBef>
                        <a:spcAft>
                          <a:spcPct val="0"/>
                        </a:spcAft>
                      </a:pPr>
                      <a:r>
                        <a:rPr lang="en-US" altLang="zh-CN" sz="800">
                          <a:latin typeface="Arial" panose="020B0604020202020204"/>
                          <a:ea typeface="Arial" panose="020B0604020202020204"/>
                        </a:rPr>
                        <a:t>[6]</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Diagnostics CNN (2023)</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Lightweight CNN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~98%</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Not specified</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 cross-dataset validation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497205">
                <a:tc>
                  <a:txBody>
                    <a:bodyPr/>
                    <a:p>
                      <a:pPr marL="0" indent="0">
                        <a:spcBef>
                          <a:spcPct val="0"/>
                        </a:spcBef>
                        <a:spcAft>
                          <a:spcPct val="0"/>
                        </a:spcAft>
                      </a:pPr>
                      <a:r>
                        <a:rPr lang="en-US" altLang="zh-CN" sz="800">
                          <a:latin typeface="Arial" panose="020B0604020202020204"/>
                          <a:ea typeface="Arial" panose="020B0604020202020204"/>
                        </a:rPr>
                        <a:t>[7]</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Efficient CNN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Depthwise Separable + SE</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~98.4%</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Not clear</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Domain invariance not evaluated</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r>
              <a:tr h="497205">
                <a:tc>
                  <a:txBody>
                    <a:bodyPr/>
                    <a:p>
                      <a:pPr marL="0" indent="0">
                        <a:spcBef>
                          <a:spcPct val="0"/>
                        </a:spcBef>
                        <a:spcAft>
                          <a:spcPct val="0"/>
                        </a:spcAft>
                      </a:pPr>
                      <a:r>
                        <a:rPr lang="en-US" altLang="zh-CN" sz="800">
                          <a:latin typeface="Arial" panose="020B0604020202020204"/>
                          <a:ea typeface="Arial" panose="020B0604020202020204"/>
                        </a:rPr>
                        <a:t>[8]</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Scientific Reports CNN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Custom CNN (4 Blocks)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98.5%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Not specified</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Strong internal validation only</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2872105"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IN"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 </a:t>
            </a:r>
            <a:r>
              <a:rPr lang="en-US" altLang="en-US" sz="2400" dirty="0">
                <a:solidFill>
                  <a:srgbClr val="04A2B9"/>
                </a:solidFill>
                <a:latin typeface="Proxima Nova" panose="02000506030000020004"/>
                <a:ea typeface="Proxima Nova" panose="02000506030000020004"/>
                <a:cs typeface="Proxima Nova" panose="02000506030000020004"/>
                <a:sym typeface="Proxima Nova" panose="02000506030000020004"/>
              </a:rPr>
              <a:t>Literature Review</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113" y="1124744"/>
            <a:ext cx="3000375" cy="396875"/>
          </a:xfrm>
          <a:prstGeom prst="rect">
            <a:avLst/>
          </a:prstGeom>
          <a:noFill/>
          <a:ln>
            <a:noFill/>
          </a:ln>
        </p:spPr>
        <p:txBody>
          <a:bodyPr spcFirstLastPara="1" wrap="square" lIns="91425" tIns="91425" rIns="91425" bIns="91425" anchor="t" anchorCtr="0">
            <a:spAutoFit/>
          </a:bodyPr>
          <a:lstStyle/>
          <a:p>
            <a:pPr marL="285750" marR="0" lvl="0" indent="-285750" algn="l" rtl="0">
              <a:spcBef>
                <a:spcPts val="0"/>
              </a:spcBef>
              <a:spcAft>
                <a:spcPts val="0"/>
              </a:spcAft>
              <a:buClr>
                <a:srgbClr val="000000"/>
              </a:buClr>
              <a:buSzPts val="1700"/>
              <a:buFont typeface="Arial" panose="020B0604020202020204"/>
              <a:buChar char="•"/>
            </a:pPr>
            <a:endParaRPr dirty="0">
              <a:solidFill>
                <a:srgbClr val="FF0000"/>
              </a:solidFill>
            </a:endParaRPr>
          </a:p>
        </p:txBody>
      </p:sp>
      <p:graphicFrame>
        <p:nvGraphicFramePr>
          <p:cNvPr id="2" name="Table 1"/>
          <p:cNvGraphicFramePr/>
          <p:nvPr>
            <p:custDataLst>
              <p:tags r:id="rId2"/>
            </p:custDataLst>
          </p:nvPr>
        </p:nvGraphicFramePr>
        <p:xfrm>
          <a:off x="647065" y="1416050"/>
          <a:ext cx="10889615" cy="4711700"/>
        </p:xfrm>
        <a:graphic>
          <a:graphicData uri="http://schemas.openxmlformats.org/drawingml/2006/table">
            <a:tbl>
              <a:tblPr/>
              <a:tblGrid>
                <a:gridCol w="500380"/>
                <a:gridCol w="1877060"/>
                <a:gridCol w="1877695"/>
                <a:gridCol w="1001395"/>
                <a:gridCol w="1002030"/>
                <a:gridCol w="1000125"/>
                <a:gridCol w="1127760"/>
                <a:gridCol w="2503170"/>
              </a:tblGrid>
              <a:tr h="488950">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Ref</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Study / Year</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Model Type</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Lightweight</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Accuracy</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k-Fold CV</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Cross-Dataset</a:t>
                      </a:r>
                      <a:endParaRPr lang="en-US" altLang="zh-CN" sz="800" b="1">
                        <a:solidFill>
                          <a:srgbClr val="FFFFFF"/>
                        </a:solidFill>
                        <a:latin typeface="Arial" panose="020B0604020202020204"/>
                        <a:ea typeface="Arial" panose="020B0604020202020204"/>
                      </a:endParaRPr>
                    </a:p>
                    <a:p>
                      <a:pPr marL="0" indent="0" algn="ctr">
                        <a:spcBef>
                          <a:spcPct val="0"/>
                        </a:spcBef>
                        <a:spcAft>
                          <a:spcPct val="0"/>
                        </a:spcAft>
                      </a:pPr>
                      <a:r>
                        <a:rPr lang="en-US" altLang="en-US" sz="800" b="1">
                          <a:solidFill>
                            <a:srgbClr val="FFFFFF"/>
                          </a:solidFill>
                          <a:latin typeface="Arial" panose="020B0604020202020204"/>
                          <a:ea typeface="Arial" panose="020B0604020202020204"/>
                        </a:rPr>
                        <a:t>Evaluation</a:t>
                      </a:r>
                      <a:endParaRPr lang="en-US" altLang="en-US"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c>
                  <a:txBody>
                    <a:bodyPr/>
                    <a:p>
                      <a:pPr marL="0" indent="0" algn="ctr">
                        <a:spcBef>
                          <a:spcPct val="0"/>
                        </a:spcBef>
                        <a:spcAft>
                          <a:spcPct val="0"/>
                        </a:spcAft>
                      </a:pPr>
                      <a:r>
                        <a:rPr lang="en-US" altLang="zh-CN" sz="800" b="1">
                          <a:solidFill>
                            <a:srgbClr val="FFFFFF"/>
                          </a:solidFill>
                          <a:latin typeface="Arial" panose="020B0604020202020204"/>
                          <a:ea typeface="Arial" panose="020B0604020202020204"/>
                        </a:rPr>
                        <a:t>Research Gap</a:t>
                      </a:r>
                      <a:endParaRPr lang="en-US" altLang="zh-CN" sz="800" b="1">
                        <a:solidFill>
                          <a:srgbClr val="FFFFFF"/>
                        </a:solidFill>
                        <a:latin typeface="Arial" panose="020B0604020202020204"/>
                        <a:ea typeface="Arial" panose="020B0604020202020204"/>
                      </a:endParaRPr>
                    </a:p>
                  </a:txBody>
                  <a:tcPr marL="76200" marR="76200" marT="50800" marB="50800" anchor="ctr" anchorCtr="0">
                    <a:lnL w="9525" cap="flat" cmpd="sng">
                      <a:solidFill>
                        <a:srgbClr val="1F3864"/>
                      </a:solidFill>
                      <a:prstDash val="solid"/>
                      <a:headEnd type="none" w="med" len="med"/>
                      <a:tailEnd type="none" w="med" len="med"/>
                    </a:lnL>
                    <a:lnR w="9525" cap="flat" cmpd="sng">
                      <a:solidFill>
                        <a:srgbClr val="1F3864"/>
                      </a:solidFill>
                      <a:prstDash val="solid"/>
                      <a:headEnd type="none" w="med" len="med"/>
                      <a:tailEnd type="none" w="med" len="med"/>
                    </a:lnR>
                    <a:lnT w="9525" cap="flat" cmpd="sng">
                      <a:solidFill>
                        <a:srgbClr val="1F3864"/>
                      </a:solidFill>
                      <a:prstDash val="solid"/>
                      <a:headEnd type="none" w="med" len="med"/>
                      <a:tailEnd type="none" w="med" len="med"/>
                    </a:lnT>
                    <a:lnB w="9525" cap="flat" cmpd="sng">
                      <a:solidFill>
                        <a:srgbClr val="CCCCCC"/>
                      </a:solidFill>
                      <a:prstDash val="solid"/>
                      <a:headEnd type="none" w="med" len="med"/>
                      <a:tailEnd type="none" w="med" len="med"/>
                    </a:lnB>
                    <a:solidFill>
                      <a:srgbClr val="1F3864"/>
                    </a:solidFill>
                  </a:tcPr>
                </a:tc>
              </a:tr>
              <a:tr h="488315">
                <a:tc>
                  <a:txBody>
                    <a:bodyPr/>
                    <a:p>
                      <a:pPr marL="0" indent="0">
                        <a:spcBef>
                          <a:spcPct val="0"/>
                        </a:spcBef>
                        <a:spcAft>
                          <a:spcPct val="0"/>
                        </a:spcAft>
                      </a:pPr>
                      <a:r>
                        <a:rPr lang="en-US" altLang="zh-CN" sz="800">
                          <a:latin typeface="Arial" panose="020B0604020202020204"/>
                          <a:ea typeface="Arial" panose="020B0604020202020204"/>
                        </a:rPr>
                        <a:t>[9]</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Alemayehu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Lightweight CNN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98.78%</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 (5-fold)</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Lacks cross-domain testing</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r>
              <a:tr h="622300">
                <a:tc>
                  <a:txBody>
                    <a:bodyPr/>
                    <a:p>
                      <a:pPr marL="0" indent="0">
                        <a:spcBef>
                          <a:spcPct val="0"/>
                        </a:spcBef>
                        <a:spcAft>
                          <a:spcPct val="0"/>
                        </a:spcAft>
                      </a:pPr>
                      <a:r>
                        <a:rPr lang="en-US" altLang="zh-CN" sz="800">
                          <a:latin typeface="Arial" panose="020B0604020202020204"/>
                          <a:ea typeface="Arial" panose="020B0604020202020204"/>
                        </a:rPr>
                        <a:t>[10]</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en-US" sz="800">
                          <a:latin typeface="Arial" panose="020B0604020202020204"/>
                          <a:ea typeface="Arial" panose="020B0604020202020204"/>
                        </a:rPr>
                        <a:t>Kakonetal. (2026)</a:t>
                      </a:r>
                      <a:endParaRPr lang="en-US" altLang="en-US"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en-US" sz="800">
                          <a:latin typeface="Arial" panose="020B0604020202020204"/>
                          <a:ea typeface="Arial" panose="020B0604020202020204"/>
                        </a:rPr>
                        <a:t>CNN (DenseNet121) + FSSR</a:t>
                      </a:r>
                      <a:endParaRPr lang="en-US" altLang="en-US"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96.70%</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en-US" sz="800">
                          <a:latin typeface="Arial" panose="020B0604020202020204"/>
                          <a:ea typeface="Arial" panose="020B0604020202020204"/>
                        </a:rPr>
                        <a:t>Lacks active adversarial domain adaptation</a:t>
                      </a:r>
                      <a:endParaRPr lang="en-US" altLang="en-US"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622935">
                <a:tc>
                  <a:txBody>
                    <a:bodyPr/>
                    <a:p>
                      <a:pPr marL="0" indent="0">
                        <a:spcBef>
                          <a:spcPct val="0"/>
                        </a:spcBef>
                        <a:spcAft>
                          <a:spcPct val="0"/>
                        </a:spcAft>
                      </a:pPr>
                      <a:r>
                        <a:rPr lang="en-US" altLang="zh-CN" sz="800">
                          <a:latin typeface="Arial" panose="020B0604020202020204"/>
                          <a:ea typeface="Arial" panose="020B0604020202020204"/>
                        </a:rPr>
                        <a:t>[11]</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Springer TL Study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ResNet-18 + EfficientNetB0</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98-99%</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Not specified</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 domain adaptation evaluation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r>
              <a:tr h="622300">
                <a:tc>
                  <a:txBody>
                    <a:bodyPr/>
                    <a:p>
                      <a:pPr marL="0" indent="0">
                        <a:spcBef>
                          <a:spcPct val="0"/>
                        </a:spcBef>
                        <a:spcAft>
                          <a:spcPct val="0"/>
                        </a:spcAft>
                      </a:pPr>
                      <a:r>
                        <a:rPr lang="en-US" altLang="zh-CN" sz="800">
                          <a:latin typeface="Arial" panose="020B0604020202020204"/>
                          <a:ea typeface="Arial" panose="020B0604020202020204"/>
                        </a:rPr>
                        <a:t>[12]</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Enhanced CNN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Deep CNN + TL</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97.27-98.57%</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Not specified</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 domain shift mitigation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621665">
                <a:tc>
                  <a:txBody>
                    <a:bodyPr/>
                    <a:p>
                      <a:pPr marL="0" indent="0">
                        <a:spcBef>
                          <a:spcPct val="0"/>
                        </a:spcBef>
                        <a:spcAft>
                          <a:spcPct val="0"/>
                        </a:spcAft>
                      </a:pPr>
                      <a:r>
                        <a:rPr lang="en-US" altLang="zh-CN" sz="800">
                          <a:latin typeface="Arial" panose="020B0604020202020204"/>
                          <a:ea typeface="Arial" panose="020B0604020202020204"/>
                        </a:rPr>
                        <a:t>[13]</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CNN-TumorNet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Custom CNN + LIME</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99%</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Lack of explainability in clinical use</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r>
              <a:tr h="623570">
                <a:tc>
                  <a:txBody>
                    <a:bodyPr/>
                    <a:p>
                      <a:pPr marL="0" indent="0">
                        <a:spcBef>
                          <a:spcPct val="0"/>
                        </a:spcBef>
                        <a:spcAft>
                          <a:spcPct val="0"/>
                        </a:spcAft>
                      </a:pPr>
                      <a:r>
                        <a:rPr lang="en-US" altLang="zh-CN" sz="800">
                          <a:latin typeface="Arial" panose="020B0604020202020204"/>
                          <a:ea typeface="Arial" panose="020B0604020202020204"/>
                        </a:rPr>
                        <a:t>[14]</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Alqudah et al. (2025)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Xception, MobileNetV2, ResNet50</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Partial</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98.73%</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spcBef>
                          <a:spcPct val="0"/>
                        </a:spcBef>
                        <a:spcAft>
                          <a:spcPct val="0"/>
                        </a:spcAft>
                      </a:pPr>
                      <a:r>
                        <a:rPr lang="en-US" altLang="zh-CN" sz="800">
                          <a:latin typeface="Arial" panose="020B0604020202020204"/>
                          <a:ea typeface="Arial" panose="020B0604020202020204"/>
                        </a:rPr>
                        <a:t>Single-dataset limits TL generalizability</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621665">
                <a:tc>
                  <a:txBody>
                    <a:bodyPr/>
                    <a:p>
                      <a:pPr marL="0" indent="0">
                        <a:spcBef>
                          <a:spcPct val="0"/>
                        </a:spcBef>
                        <a:spcAft>
                          <a:spcPct val="0"/>
                        </a:spcAft>
                      </a:pPr>
                      <a:r>
                        <a:rPr lang="en-US" altLang="zh-CN" sz="800">
                          <a:latin typeface="Arial" panose="020B0604020202020204"/>
                          <a:ea typeface="Arial" panose="020B0604020202020204"/>
                        </a:rPr>
                        <a:t>[15]</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Hyperparametric CNN (2024)</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Hyperparameter-optimised CNN</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97%</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No</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Yes (3 Kaggle datasets)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c>
                  <a:txBody>
                    <a:bodyPr/>
                    <a:p>
                      <a:pPr marL="0" indent="0">
                        <a:spcBef>
                          <a:spcPct val="0"/>
                        </a:spcBef>
                        <a:spcAft>
                          <a:spcPct val="0"/>
                        </a:spcAft>
                      </a:pPr>
                      <a:r>
                        <a:rPr lang="en-US" altLang="zh-CN" sz="800">
                          <a:latin typeface="Arial" panose="020B0604020202020204"/>
                          <a:ea typeface="Arial" panose="020B0604020202020204"/>
                        </a:rPr>
                        <a:t>Inconsistent optimisation protocols</a:t>
                      </a:r>
                      <a:endParaRPr lang="en-US" altLang="zh-CN" sz="800">
                        <a:latin typeface="Arial" panose="020B0604020202020204"/>
                        <a:ea typeface="Arial" panose="020B0604020202020204"/>
                      </a:endParaRPr>
                    </a:p>
                  </a:txBody>
                  <a:tcPr marL="76200" marR="76200" marT="50800" marB="50800" anchor="t"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BF3FB"/>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385318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Research Gap</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436689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9 out of 15 surveyed papers[1-15] have no cross-dataset evaluation at all. Only 4 performed full external testing - and none of them tested on a completely different scanner the way this project does.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When tested externally, models still detect tumors well but specificity collapses - healthy patients get wrongly flagged. This is called Domain Shift.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No existing paper in the survey scientifically studies or attempts to fix this - making it an open and unsolved problem that this project addresses.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When preparing data for domain adaptation, the group discovered that publicly available brain MRI datasets are not independent they silently share thousands of identical images across different Kaggle repositories. No prior work has ever audited this. Our pHash-based deduplication found 27,085 of 41,497 images were duplicates or cross-dataset leakages meaning most published cross-dataset results, including domain adaptation studies, are built on contaminated comparisons and cannot be trusted.</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385318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Problem Statement</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384365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Current deep learning models for brain tumor classification are trained and tested on the same MRI dataset  making their real-world reliability unknown.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When deployed on scans from a different scanner or institution, these models suffer from Domain Shift  specificity collapses while sensitivity holds, meaning healthy patients are systematically misdiagnosed as having a tumour.</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 deeper investigation revealed that publicly available brain MRI datasets are not independent  they silently share thousands of identical images, meaning most published cross-dataset results are built on contaminated comparisons and cannot be trusted.</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There is no lightweight, generalizable solution that is both domain-adaptive and built on verified, leakage-free data  creating a two-layered gap in automated brain tumor detection that this project directly addresses across two phases.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385318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Objective</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462851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To train a ResNet-18 binary classifier on BRISC 2025 with patient-level Stratified GroupKFold cross-validation and honestly measure its performance on the independent Figshare composite dataset  exposing the domain shift problem with scientific rigor.</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To investigate the root cause of the collapse identifying that the model learned scanner identity rather than tumour biology and document this as an open, unsolved problem in the literature.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To audit all datasets used across both phases using pHash-based deduplication verifying that 27,085 of 41,497 images were duplicates or cross-dataset leakages establishing data integrity as a prerequisite for any trustworthy domain adaptation result.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To develop a Domain-Adversarial Neural Network (DANN) with a Gradient Reversal Layer trained on 14,412 verified clean images forcing the model to learn scanner-invariant tumour features and recover the specificity lost in Phase 1.</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To validate the solution on truly independent external datasets — demonstrating that the system is clinically deployable across different scanners and institutions.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385318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Data Collection - Phase 1</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2" name="Table 1"/>
          <p:cNvGraphicFramePr/>
          <p:nvPr>
            <p:custDataLst>
              <p:tags r:id="rId2"/>
            </p:custDataLst>
          </p:nvPr>
        </p:nvGraphicFramePr>
        <p:xfrm>
          <a:off x="1343660" y="1097280"/>
          <a:ext cx="9504680" cy="5020310"/>
        </p:xfrm>
        <a:graphic>
          <a:graphicData uri="http://schemas.openxmlformats.org/drawingml/2006/table">
            <a:tbl>
              <a:tblPr/>
              <a:tblGrid>
                <a:gridCol w="2234565"/>
                <a:gridCol w="3634740"/>
                <a:gridCol w="3635375"/>
              </a:tblGrid>
              <a:tr h="600710">
                <a:tc>
                  <a:txBody>
                    <a:bodyPr/>
                    <a:p>
                      <a:pPr marL="0" indent="0" algn="ctr">
                        <a:spcBef>
                          <a:spcPct val="0"/>
                        </a:spcBef>
                        <a:spcAft>
                          <a:spcPct val="0"/>
                        </a:spcAft>
                      </a:pPr>
                      <a:r>
                        <a:rPr lang="en-US" altLang="zh-CN" sz="1100" b="1">
                          <a:solidFill>
                            <a:srgbClr val="FFFFFF"/>
                          </a:solidFill>
                          <a:latin typeface="Calibri" panose="020F0502020204030204"/>
                          <a:ea typeface="Calibri" panose="020F0502020204030204"/>
                        </a:rPr>
                        <a:t>Detail</a:t>
                      </a:r>
                      <a:endParaRPr lang="en-US" altLang="zh-CN" sz="11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pPr>
                      <a:r>
                        <a:rPr lang="en-US" altLang="zh-CN" sz="1100" b="1">
                          <a:solidFill>
                            <a:srgbClr val="FFFFFF"/>
                          </a:solidFill>
                          <a:latin typeface="Calibri" panose="020F0502020204030204"/>
                          <a:ea typeface="Calibri" panose="020F0502020204030204"/>
                        </a:rPr>
                        <a:t>BRISC 2025</a:t>
                      </a:r>
                      <a:r>
                        <a:rPr lang="en-US" altLang="zh-CN" sz="1100" b="1">
                          <a:solidFill>
                            <a:srgbClr val="FFFFFF"/>
                          </a:solidFill>
                          <a:latin typeface="Calibri" panose="020F0502020204030204"/>
                          <a:ea typeface="Calibri" panose="020F0502020204030204"/>
                        </a:rPr>
                        <a:t> </a:t>
                      </a:r>
                      <a:endParaRPr lang="en-US" altLang="zh-CN" sz="1100" b="1">
                        <a:solidFill>
                          <a:srgbClr val="FFFFFF"/>
                        </a:solidFill>
                        <a:latin typeface="Calibri" panose="020F0502020204030204"/>
                        <a:ea typeface="Calibri" panose="020F0502020204030204"/>
                      </a:endParaRPr>
                    </a:p>
                    <a:p>
                      <a:pPr marL="0" indent="0" algn="ctr">
                        <a:spcBef>
                          <a:spcPct val="0"/>
                        </a:spcBef>
                        <a:spcAft>
                          <a:spcPct val="0"/>
                        </a:spcAft>
                      </a:pPr>
                      <a:r>
                        <a:rPr lang="en-US" altLang="zh-CN" sz="1100" b="1">
                          <a:solidFill>
                            <a:srgbClr val="FFFFFF"/>
                          </a:solidFill>
                          <a:latin typeface="Calibri" panose="020F0502020204030204"/>
                          <a:ea typeface="Calibri" panose="020F0502020204030204"/>
                        </a:rPr>
                        <a:t>Training Dataset</a:t>
                      </a:r>
                      <a:endParaRPr lang="en-US" altLang="zh-CN" sz="11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pPr>
                      <a:r>
                        <a:rPr lang="en-US" altLang="zh-CN" sz="1100" b="1">
                          <a:solidFill>
                            <a:srgbClr val="FFFFFF"/>
                          </a:solidFill>
                          <a:latin typeface="Calibri" panose="020F0502020204030204"/>
                          <a:ea typeface="Calibri" panose="020F0502020204030204"/>
                        </a:rPr>
                        <a:t>Figshare </a:t>
                      </a:r>
                      <a:endParaRPr lang="en-US" altLang="zh-CN" sz="1100" b="1">
                        <a:solidFill>
                          <a:srgbClr val="FFFFFF"/>
                        </a:solidFill>
                        <a:latin typeface="Calibri" panose="020F0502020204030204"/>
                        <a:ea typeface="Calibri" panose="020F0502020204030204"/>
                      </a:endParaRPr>
                    </a:p>
                    <a:p>
                      <a:pPr marL="0" indent="0" algn="ctr">
                        <a:spcBef>
                          <a:spcPct val="0"/>
                        </a:spcBef>
                        <a:spcAft>
                          <a:spcPct val="0"/>
                        </a:spcAft>
                      </a:pPr>
                      <a:r>
                        <a:rPr lang="en-US" altLang="zh-CN" sz="1100" b="1">
                          <a:solidFill>
                            <a:srgbClr val="FFFFFF"/>
                          </a:solidFill>
                          <a:latin typeface="Calibri" panose="020F0502020204030204"/>
                          <a:ea typeface="Calibri" panose="020F0502020204030204"/>
                        </a:rPr>
                        <a:t>External Validation Dataset</a:t>
                      </a:r>
                      <a:endParaRPr lang="en-US" altLang="zh-CN" sz="11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r>
              <a:tr h="363220">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Purpose</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Training and Internal Testing</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External Validation Only</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r>
              <a:tr h="579120">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Source</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Kaggle -briscdataset/brisc2025</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Kaggle -masoudnickparvar/ brain-tumor-mri-dataset</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362585">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Combined From</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Single source</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Figshare</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r h="361315">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Total Images</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6,000 images</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7,200 images</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362585">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Image Type</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MRI -T1-weighted Axial</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MRI -Multiple orientations</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r h="361950">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File Format</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JPEG</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JPEG</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579755">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Classes</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Glioma, Meningioma, Pituitary, No Tumor</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Glioma, Meningioma, Pituitary, No Tumor</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r h="362585">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Classification</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Binary -Tumor or No Tumor</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Binary -Tumor or No Tumor</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361950">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Used in Training</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Yes</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Never</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r>
              <a:tr h="361950">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Used in 5-Fold CV</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Yes</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Never</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r>
              <a:tr h="362585">
                <a:tc>
                  <a:txBody>
                    <a:bodyPr/>
                    <a:p>
                      <a:pPr marL="0" indent="0">
                        <a:spcBef>
                          <a:spcPct val="0"/>
                        </a:spcBef>
                        <a:spcAft>
                          <a:spcPct val="0"/>
                        </a:spcAft>
                      </a:pPr>
                      <a:r>
                        <a:rPr lang="en-US" altLang="zh-CN" sz="1000" b="1">
                          <a:solidFill>
                            <a:srgbClr val="1B3A6B"/>
                          </a:solidFill>
                          <a:latin typeface="Calibri" panose="020F0502020204030204"/>
                          <a:ea typeface="Calibri" panose="020F0502020204030204"/>
                        </a:rPr>
                        <a:t>Role in Research</a:t>
                      </a:r>
                      <a:endParaRPr lang="en-US" altLang="zh-CN" sz="1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Source Domain</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1000" b="0">
                          <a:solidFill>
                            <a:srgbClr val="333333"/>
                          </a:solidFill>
                          <a:latin typeface="Calibri" panose="020F0502020204030204"/>
                          <a:ea typeface="Calibri" panose="020F0502020204030204"/>
                        </a:rPr>
                        <a:t>Target Domain -Domain Shift Test</a:t>
                      </a:r>
                      <a:endParaRPr lang="en-US" altLang="zh-CN" sz="1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r>
            </a:tbl>
          </a:graphicData>
        </a:graphic>
      </p:graphicFrame>
      <p:sp>
        <p:nvSpPr>
          <p:cNvPr id="3" name="Text Box 2"/>
          <p:cNvSpPr txBox="1"/>
          <p:nvPr/>
        </p:nvSpPr>
        <p:spPr>
          <a:xfrm>
            <a:off x="3388360" y="6295390"/>
            <a:ext cx="5415280" cy="306705"/>
          </a:xfrm>
          <a:prstGeom prst="rect">
            <a:avLst/>
          </a:prstGeom>
          <a:noFill/>
        </p:spPr>
        <p:txBody>
          <a:bodyPr wrap="square" rtlCol="0">
            <a:spAutoFit/>
          </a:bodyPr>
          <a:p>
            <a:pPr algn="ctr"/>
            <a:r>
              <a:rPr lang="en-US" altLang="en-US"/>
              <a:t>BRISC 2025 dataset [16] and Figshare dataset [17]</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515"/>
            <a:ext cx="6072505"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Data Collection(Preduplication) - Phase 2</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2" name="Table 1"/>
          <p:cNvGraphicFramePr/>
          <p:nvPr>
            <p:custDataLst>
              <p:tags r:id="rId2"/>
            </p:custDataLst>
          </p:nvPr>
        </p:nvGraphicFramePr>
        <p:xfrm>
          <a:off x="1209040" y="1270635"/>
          <a:ext cx="9504680" cy="5146040"/>
        </p:xfrm>
        <a:graphic>
          <a:graphicData uri="http://schemas.openxmlformats.org/drawingml/2006/table">
            <a:tbl>
              <a:tblPr/>
              <a:tblGrid>
                <a:gridCol w="1584325"/>
                <a:gridCol w="1583690"/>
                <a:gridCol w="1584325"/>
                <a:gridCol w="1584325"/>
                <a:gridCol w="1583690"/>
                <a:gridCol w="1584325"/>
              </a:tblGrid>
              <a:tr h="643255">
                <a:tc>
                  <a:txBody>
                    <a:bodyPr/>
                    <a:p>
                      <a:pPr marL="0" indent="0" algn="ctr">
                        <a:spcBef>
                          <a:spcPct val="0"/>
                        </a:spcBef>
                        <a:spcAft>
                          <a:spcPct val="0"/>
                        </a:spcAft>
                      </a:pPr>
                      <a:r>
                        <a:rPr lang="en-US" altLang="zh-CN" sz="1600" b="1">
                          <a:solidFill>
                            <a:srgbClr val="FFFFFF"/>
                          </a:solidFill>
                          <a:latin typeface="Calibri" panose="020F0502020204030204"/>
                          <a:ea typeface="Calibri" panose="020F0502020204030204"/>
                        </a:rPr>
                        <a:t>Metric</a:t>
                      </a:r>
                      <a:endParaRPr lang="en-US" altLang="zh-CN" sz="16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pPr>
                      <a:r>
                        <a:rPr lang="en-US" altLang="zh-CN" sz="1600" b="1">
                          <a:solidFill>
                            <a:srgbClr val="FFFFFF"/>
                          </a:solidFill>
                          <a:latin typeface="Calibri" panose="020F0502020204030204"/>
                          <a:ea typeface="Calibri" panose="020F0502020204030204"/>
                        </a:rPr>
                        <a:t>BRISC [16]</a:t>
                      </a:r>
                      <a:endParaRPr lang="en-US" altLang="zh-CN" sz="16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pPr>
                      <a:r>
                        <a:rPr lang="en-US" altLang="en-US" sz="1600" b="1">
                          <a:solidFill>
                            <a:srgbClr val="FFFFFF"/>
                          </a:solidFill>
                          <a:latin typeface="Calibri" panose="020F0502020204030204"/>
                          <a:ea typeface="Calibri" panose="020F0502020204030204"/>
                        </a:rPr>
                        <a:t>Mendeley [18]</a:t>
                      </a:r>
                      <a:endParaRPr lang="en-US" altLang="en-US" sz="16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buNone/>
                      </a:pPr>
                      <a:r>
                        <a:rPr lang="en-US" altLang="en-US" sz="1600" b="1">
                          <a:solidFill>
                            <a:srgbClr val="FFFFFF"/>
                          </a:solidFill>
                          <a:latin typeface="Calibri" panose="020F0502020204030204"/>
                          <a:ea typeface="Calibri" panose="020F0502020204030204"/>
                        </a:rPr>
                        <a:t>Ayesha [19]</a:t>
                      </a:r>
                      <a:endParaRPr lang="en-US" altLang="en-US" sz="16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buNone/>
                      </a:pPr>
                      <a:r>
                        <a:rPr lang="en-US" altLang="en-US" sz="1600" b="1">
                          <a:solidFill>
                            <a:srgbClr val="FFFFFF"/>
                          </a:solidFill>
                          <a:latin typeface="Calibri" panose="020F0502020204030204"/>
                          <a:ea typeface="Calibri" panose="020F0502020204030204"/>
                        </a:rPr>
                        <a:t>Alam [20]</a:t>
                      </a:r>
                      <a:endParaRPr lang="en-US" altLang="en-US" sz="16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buNone/>
                      </a:pPr>
                      <a:r>
                        <a:rPr lang="en-US" altLang="en-US" sz="1600" b="1">
                          <a:solidFill>
                            <a:srgbClr val="FFFFFF"/>
                          </a:solidFill>
                          <a:latin typeface="Calibri" panose="020F0502020204030204"/>
                          <a:ea typeface="Calibri" panose="020F0502020204030204"/>
                        </a:rPr>
                        <a:t>DeepPy [21]</a:t>
                      </a:r>
                      <a:endParaRPr lang="en-US" altLang="en-US" sz="16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r>
              <a:tr h="643255">
                <a:tc>
                  <a:txBody>
                    <a:bodyPr/>
                    <a:p>
                      <a:pPr marL="0" indent="0">
                        <a:spcBef>
                          <a:spcPct val="0"/>
                        </a:spcBef>
                        <a:spcAft>
                          <a:spcPct val="0"/>
                        </a:spcAft>
                      </a:pPr>
                      <a:r>
                        <a:rPr lang="en-US" altLang="en-US" sz="1600" b="1">
                          <a:solidFill>
                            <a:srgbClr val="1B3A6B"/>
                          </a:solidFill>
                          <a:latin typeface="Calibri" panose="020F0502020204030204"/>
                          <a:ea typeface="Calibri" panose="020F0502020204030204"/>
                        </a:rPr>
                        <a:t>Role</a:t>
                      </a:r>
                      <a:endParaRPr lang="en-US" altLang="en-US" sz="16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1600" b="0">
                          <a:solidFill>
                            <a:srgbClr val="333333"/>
                          </a:solidFill>
                          <a:latin typeface="Calibri" panose="020F0502020204030204"/>
                          <a:ea typeface="Calibri" panose="020F0502020204030204"/>
                        </a:rPr>
                        <a:t>Training Source</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en-US" sz="1600" b="0">
                          <a:solidFill>
                            <a:srgbClr val="333333"/>
                          </a:solidFill>
                          <a:latin typeface="Calibri" panose="020F0502020204030204"/>
                          <a:ea typeface="Calibri" panose="020F0502020204030204"/>
                        </a:rPr>
                        <a:t>DANN Target</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Ext. Val 1</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Ext. Val 2</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Ext. Val 3</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r>
              <a:tr h="643255">
                <a:tc>
                  <a:txBody>
                    <a:bodyPr/>
                    <a:p>
                      <a:pPr marL="0" indent="0">
                        <a:spcBef>
                          <a:spcPct val="0"/>
                        </a:spcBef>
                        <a:spcAft>
                          <a:spcPct val="0"/>
                        </a:spcAft>
                      </a:pPr>
                      <a:r>
                        <a:rPr lang="en-US" altLang="en-US" sz="1600" b="1">
                          <a:solidFill>
                            <a:srgbClr val="1B3A6B"/>
                          </a:solidFill>
                          <a:latin typeface="Calibri" panose="020F0502020204030204"/>
                          <a:ea typeface="Calibri" panose="020F0502020204030204"/>
                        </a:rPr>
                        <a:t>Used in Training</a:t>
                      </a:r>
                      <a:endParaRPr lang="en-US" altLang="en-US" sz="16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600" b="0">
                          <a:solidFill>
                            <a:srgbClr val="333333"/>
                          </a:solidFill>
                          <a:latin typeface="Calibri" panose="020F0502020204030204"/>
                          <a:ea typeface="Calibri" panose="020F0502020204030204"/>
                        </a:rPr>
                        <a:t>Yes</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1600" b="0">
                          <a:solidFill>
                            <a:srgbClr val="333333"/>
                          </a:solidFill>
                          <a:latin typeface="Calibri" panose="020F0502020204030204"/>
                          <a:ea typeface="Calibri" panose="020F0502020204030204"/>
                        </a:rPr>
                        <a:t>Domain Labels</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zh-CN" sz="1600" b="0">
                          <a:solidFill>
                            <a:srgbClr val="333333"/>
                          </a:solidFill>
                          <a:latin typeface="Calibri" panose="020F0502020204030204"/>
                          <a:ea typeface="Calibri" panose="020F0502020204030204"/>
                        </a:rPr>
                        <a:t>Never</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zh-CN" sz="1600" b="0">
                          <a:solidFill>
                            <a:srgbClr val="333333"/>
                          </a:solidFill>
                          <a:latin typeface="Calibri" panose="020F0502020204030204"/>
                          <a:ea typeface="Calibri" panose="020F0502020204030204"/>
                        </a:rPr>
                        <a:t>Never</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zh-CN" sz="1600" b="0">
                          <a:solidFill>
                            <a:srgbClr val="333333"/>
                          </a:solidFill>
                          <a:latin typeface="Calibri" panose="020F0502020204030204"/>
                          <a:ea typeface="Calibri" panose="020F0502020204030204"/>
                        </a:rPr>
                        <a:t>Never</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643255">
                <a:tc>
                  <a:txBody>
                    <a:bodyPr/>
                    <a:p>
                      <a:pPr marL="0" indent="0">
                        <a:spcBef>
                          <a:spcPct val="0"/>
                        </a:spcBef>
                        <a:spcAft>
                          <a:spcPct val="0"/>
                        </a:spcAft>
                      </a:pPr>
                      <a:r>
                        <a:rPr lang="en-US" altLang="en-US" sz="1600" b="1">
                          <a:solidFill>
                            <a:srgbClr val="1B3A6B"/>
                          </a:solidFill>
                          <a:latin typeface="Calibri" panose="020F0502020204030204"/>
                          <a:ea typeface="Calibri" panose="020F0502020204030204"/>
                        </a:rPr>
                        <a:t>Used in 5-Fold CV</a:t>
                      </a:r>
                      <a:endParaRPr lang="en-US" altLang="en-US" sz="16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600" b="0">
                          <a:solidFill>
                            <a:srgbClr val="333333"/>
                          </a:solidFill>
                          <a:latin typeface="Calibri" panose="020F0502020204030204"/>
                          <a:ea typeface="Calibri" panose="020F0502020204030204"/>
                        </a:rPr>
                        <a:t>Yes</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zh-CN" sz="1600" b="0">
                          <a:solidFill>
                            <a:srgbClr val="333333"/>
                          </a:solidFill>
                          <a:latin typeface="Calibri" panose="020F0502020204030204"/>
                          <a:ea typeface="Calibri" panose="020F0502020204030204"/>
                        </a:rPr>
                        <a:t>No</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zh-CN" sz="1600">
                          <a:solidFill>
                            <a:srgbClr val="333333"/>
                          </a:solidFill>
                          <a:latin typeface="Calibri" panose="020F0502020204030204"/>
                          <a:ea typeface="Calibri" panose="020F0502020204030204"/>
                          <a:sym typeface="+mn-ea"/>
                        </a:rPr>
                        <a:t>Never</a:t>
                      </a:r>
                      <a:endParaRPr lang="en-US" altLang="zh-CN" sz="1600" b="0">
                        <a:solidFill>
                          <a:srgbClr val="333333"/>
                        </a:solidFill>
                        <a:latin typeface="Calibri" panose="020F0502020204030204"/>
                        <a:ea typeface="Calibri" panose="020F0502020204030204"/>
                      </a:endParaRPr>
                    </a:p>
                    <a:p>
                      <a:pPr marL="0" indent="0" algn="ctr">
                        <a:spcBef>
                          <a:spcPct val="0"/>
                        </a:spcBef>
                        <a:spcAft>
                          <a:spcPct val="0"/>
                        </a:spcAft>
                        <a:buNone/>
                      </a:pP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zh-CN" sz="1600">
                          <a:solidFill>
                            <a:srgbClr val="333333"/>
                          </a:solidFill>
                          <a:latin typeface="Calibri" panose="020F0502020204030204"/>
                          <a:ea typeface="Calibri" panose="020F0502020204030204"/>
                          <a:sym typeface="+mn-ea"/>
                        </a:rPr>
                        <a:t>Never</a:t>
                      </a:r>
                      <a:endParaRPr lang="en-US" altLang="zh-CN" sz="1600" b="0">
                        <a:solidFill>
                          <a:srgbClr val="333333"/>
                        </a:solidFill>
                        <a:latin typeface="Calibri" panose="020F0502020204030204"/>
                        <a:ea typeface="Calibri" panose="020F0502020204030204"/>
                      </a:endParaRPr>
                    </a:p>
                    <a:p>
                      <a:pPr marL="0" indent="0" algn="ctr">
                        <a:spcBef>
                          <a:spcPct val="0"/>
                        </a:spcBef>
                        <a:spcAft>
                          <a:spcPct val="0"/>
                        </a:spcAft>
                        <a:buNone/>
                      </a:pP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zh-CN" sz="1600">
                          <a:solidFill>
                            <a:srgbClr val="333333"/>
                          </a:solidFill>
                          <a:latin typeface="Calibri" panose="020F0502020204030204"/>
                          <a:ea typeface="Calibri" panose="020F0502020204030204"/>
                          <a:sym typeface="+mn-ea"/>
                        </a:rPr>
                        <a:t>Never</a:t>
                      </a:r>
                      <a:endParaRPr lang="en-US" altLang="zh-CN" sz="1600" b="0">
                        <a:solidFill>
                          <a:srgbClr val="333333"/>
                        </a:solidFill>
                        <a:latin typeface="Calibri" panose="020F0502020204030204"/>
                        <a:ea typeface="Calibri" panose="020F0502020204030204"/>
                      </a:endParaRPr>
                    </a:p>
                    <a:p>
                      <a:pPr marL="0" indent="0" algn="ctr">
                        <a:spcBef>
                          <a:spcPct val="0"/>
                        </a:spcBef>
                        <a:spcAft>
                          <a:spcPct val="0"/>
                        </a:spcAft>
                        <a:buNone/>
                      </a:pP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r h="643255">
                <a:tc>
                  <a:txBody>
                    <a:bodyPr/>
                    <a:p>
                      <a:pPr marL="0" indent="0">
                        <a:spcBef>
                          <a:spcPct val="0"/>
                        </a:spcBef>
                        <a:spcAft>
                          <a:spcPct val="0"/>
                        </a:spcAft>
                      </a:pPr>
                      <a:r>
                        <a:rPr lang="en-US" altLang="en-US" sz="1600" b="1">
                          <a:solidFill>
                            <a:srgbClr val="1B3A6B"/>
                          </a:solidFill>
                          <a:latin typeface="Calibri" panose="020F0502020204030204"/>
                          <a:ea typeface="Calibri" panose="020F0502020204030204"/>
                        </a:rPr>
                        <a:t>Train Images (Before)</a:t>
                      </a:r>
                      <a:endParaRPr lang="en-US" altLang="en-US" sz="16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1600" b="0">
                          <a:solidFill>
                            <a:srgbClr val="333333"/>
                          </a:solidFill>
                          <a:latin typeface="Calibri" panose="020F0502020204030204"/>
                          <a:ea typeface="Calibri" panose="020F0502020204030204"/>
                        </a:rPr>
                        <a:t>5,000</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en-US" sz="1600" b="0">
                          <a:solidFill>
                            <a:srgbClr val="333333"/>
                          </a:solidFill>
                          <a:latin typeface="Calibri" panose="020F0502020204030204"/>
                          <a:ea typeface="Calibri" panose="020F0502020204030204"/>
                        </a:rPr>
                        <a:t>9,650</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5,712</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8,745</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5,723</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643255">
                <a:tc>
                  <a:txBody>
                    <a:bodyPr/>
                    <a:p>
                      <a:pPr marL="0" indent="0">
                        <a:spcBef>
                          <a:spcPct val="0"/>
                        </a:spcBef>
                        <a:spcAft>
                          <a:spcPct val="0"/>
                        </a:spcAft>
                      </a:pPr>
                      <a:r>
                        <a:rPr lang="en-US" altLang="en-US" sz="1600" b="1">
                          <a:solidFill>
                            <a:srgbClr val="1B3A6B"/>
                          </a:solidFill>
                          <a:latin typeface="Calibri" panose="020F0502020204030204"/>
                          <a:ea typeface="Calibri" panose="020F0502020204030204"/>
                        </a:rPr>
                        <a:t>Test Images (Before)</a:t>
                      </a:r>
                      <a:endParaRPr lang="en-US" altLang="en-US" sz="16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1600" b="0">
                          <a:solidFill>
                            <a:srgbClr val="333333"/>
                          </a:solidFill>
                          <a:latin typeface="Calibri" panose="020F0502020204030204"/>
                          <a:ea typeface="Calibri" panose="020F0502020204030204"/>
                        </a:rPr>
                        <a:t>1,000</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en-US" sz="1600" b="0">
                          <a:solidFill>
                            <a:srgbClr val="333333"/>
                          </a:solidFill>
                          <a:latin typeface="Calibri" panose="020F0502020204030204"/>
                          <a:ea typeface="Calibri" panose="020F0502020204030204"/>
                        </a:rPr>
                        <a:t>2,414</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1,311</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512</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1,430</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r h="643255">
                <a:tc>
                  <a:txBody>
                    <a:bodyPr/>
                    <a:p>
                      <a:pPr marL="0" indent="0">
                        <a:spcBef>
                          <a:spcPct val="0"/>
                        </a:spcBef>
                        <a:spcAft>
                          <a:spcPct val="0"/>
                        </a:spcAft>
                      </a:pPr>
                      <a:r>
                        <a:rPr lang="en-US" altLang="en-US" sz="1600" b="1">
                          <a:solidFill>
                            <a:srgbClr val="1B3A6B"/>
                          </a:solidFill>
                          <a:latin typeface="Calibri" panose="020F0502020204030204"/>
                          <a:ea typeface="Calibri" panose="020F0502020204030204"/>
                        </a:rPr>
                        <a:t>Total Before Dedup</a:t>
                      </a:r>
                      <a:endParaRPr lang="en-US" altLang="en-US" sz="16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1600" b="0">
                          <a:solidFill>
                            <a:srgbClr val="333333"/>
                          </a:solidFill>
                          <a:latin typeface="Calibri" panose="020F0502020204030204"/>
                          <a:ea typeface="Calibri" panose="020F0502020204030204"/>
                        </a:rPr>
                        <a:t>6,000</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en-US" sz="1600" b="0">
                          <a:solidFill>
                            <a:srgbClr val="333333"/>
                          </a:solidFill>
                          <a:latin typeface="Calibri" panose="020F0502020204030204"/>
                          <a:ea typeface="Calibri" panose="020F0502020204030204"/>
                        </a:rPr>
                        <a:t>12,064</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7,023</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9,257</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en-US" sz="1600" b="0">
                          <a:solidFill>
                            <a:srgbClr val="333333"/>
                          </a:solidFill>
                          <a:latin typeface="Calibri" panose="020F0502020204030204"/>
                          <a:ea typeface="Calibri" panose="020F0502020204030204"/>
                        </a:rPr>
                        <a:t>7,153</a:t>
                      </a:r>
                      <a:endParaRPr lang="en-US" altLang="en-US"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643255">
                <a:tc>
                  <a:txBody>
                    <a:bodyPr/>
                    <a:p>
                      <a:pPr marL="0" indent="0">
                        <a:spcBef>
                          <a:spcPct val="0"/>
                        </a:spcBef>
                        <a:spcAft>
                          <a:spcPct val="0"/>
                        </a:spcAft>
                      </a:pPr>
                      <a:r>
                        <a:rPr lang="en-US" altLang="en-US" sz="1600" b="1">
                          <a:solidFill>
                            <a:srgbClr val="1B3A6B"/>
                          </a:solidFill>
                          <a:latin typeface="Calibri" panose="020F0502020204030204"/>
                          <a:ea typeface="Calibri" panose="020F0502020204030204"/>
                        </a:rPr>
                        <a:t>Priority Level</a:t>
                      </a:r>
                      <a:endParaRPr lang="en-US" altLang="en-US" sz="16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zh-CN" sz="1600" b="0">
                          <a:solidFill>
                            <a:srgbClr val="333333"/>
                          </a:solidFill>
                          <a:latin typeface="Calibri" panose="020F0502020204030204"/>
                          <a:ea typeface="Calibri" panose="020F0502020204030204"/>
                        </a:rPr>
                        <a:t>1 (Highest)</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zh-CN" sz="1600" b="0">
                          <a:solidFill>
                            <a:srgbClr val="333333"/>
                          </a:solidFill>
                          <a:latin typeface="Calibri" panose="020F0502020204030204"/>
                          <a:ea typeface="Calibri" panose="020F0502020204030204"/>
                        </a:rPr>
                        <a:t>2</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zh-CN" sz="1600" b="0">
                          <a:solidFill>
                            <a:srgbClr val="333333"/>
                          </a:solidFill>
                          <a:latin typeface="Calibri" panose="020F0502020204030204"/>
                          <a:ea typeface="Calibri" panose="020F0502020204030204"/>
                        </a:rPr>
                        <a:t>3</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zh-CN" sz="1600" b="0">
                          <a:solidFill>
                            <a:srgbClr val="333333"/>
                          </a:solidFill>
                          <a:latin typeface="Calibri" panose="020F0502020204030204"/>
                          <a:ea typeface="Calibri" panose="020F0502020204030204"/>
                        </a:rPr>
                        <a:t>4</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zh-CN" sz="1600" b="0">
                          <a:solidFill>
                            <a:srgbClr val="333333"/>
                          </a:solidFill>
                          <a:latin typeface="Calibri" panose="020F0502020204030204"/>
                          <a:ea typeface="Calibri" panose="020F0502020204030204"/>
                        </a:rPr>
                        <a:t>5 (Lowest)</a:t>
                      </a:r>
                      <a:endParaRPr lang="en-US" altLang="zh-CN" sz="16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385318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Dataset Roles - Phase 2</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2" name="Table 1"/>
          <p:cNvGraphicFramePr/>
          <p:nvPr>
            <p:custDataLst>
              <p:tags r:id="rId2"/>
            </p:custDataLst>
          </p:nvPr>
        </p:nvGraphicFramePr>
        <p:xfrm>
          <a:off x="427990" y="1146175"/>
          <a:ext cx="10305415" cy="5147945"/>
        </p:xfrm>
        <a:graphic>
          <a:graphicData uri="http://schemas.openxmlformats.org/drawingml/2006/table">
            <a:tbl>
              <a:tblPr/>
              <a:tblGrid>
                <a:gridCol w="1752600"/>
                <a:gridCol w="2850515"/>
                <a:gridCol w="2851150"/>
                <a:gridCol w="2851150"/>
              </a:tblGrid>
              <a:tr h="1111250">
                <a:tc>
                  <a:txBody>
                    <a:bodyPr/>
                    <a:p>
                      <a:pPr marL="0" indent="0" algn="ctr">
                        <a:spcBef>
                          <a:spcPct val="0"/>
                        </a:spcBef>
                        <a:spcAft>
                          <a:spcPct val="0"/>
                        </a:spcAft>
                      </a:pPr>
                      <a:r>
                        <a:rPr lang="en-US" altLang="zh-CN" sz="2400" b="1">
                          <a:solidFill>
                            <a:srgbClr val="FFFFFF"/>
                          </a:solidFill>
                          <a:latin typeface="Calibri" panose="020F0502020204030204"/>
                          <a:ea typeface="Calibri" panose="020F0502020204030204"/>
                        </a:rPr>
                        <a:t>Dataset Source</a:t>
                      </a:r>
                      <a:endParaRPr lang="en-US" altLang="zh-CN" sz="24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pPr>
                      <a:r>
                        <a:rPr lang="en-US" altLang="zh-CN" sz="2400" b="1">
                          <a:solidFill>
                            <a:srgbClr val="FFFFFF"/>
                          </a:solidFill>
                          <a:latin typeface="Calibri" panose="020F0502020204030204"/>
                          <a:ea typeface="Calibri" panose="020F0502020204030204"/>
                        </a:rPr>
                        <a:t>Role in Pipeline</a:t>
                      </a:r>
                      <a:endParaRPr lang="en-US" altLang="zh-CN" sz="24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pPr>
                      <a:r>
                        <a:rPr lang="en-US" altLang="en-US" sz="2400" b="1">
                          <a:solidFill>
                            <a:srgbClr val="FFFFFF"/>
                          </a:solidFill>
                          <a:latin typeface="Calibri" panose="020F0502020204030204"/>
                          <a:ea typeface="Calibri" panose="020F0502020204030204"/>
                        </a:rPr>
                        <a:t>Purpose</a:t>
                      </a:r>
                      <a:endParaRPr lang="en-US" altLang="en-US" sz="24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buNone/>
                      </a:pPr>
                      <a:r>
                        <a:rPr lang="en-US" altLang="en-US" sz="2400" b="1">
                          <a:solidFill>
                            <a:srgbClr val="FFFFFF"/>
                          </a:solidFill>
                          <a:latin typeface="Calibri" panose="020F0502020204030204"/>
                          <a:ea typeface="Calibri" panose="020F0502020204030204"/>
                        </a:rPr>
                        <a:t>Integrity Status After Deduplication</a:t>
                      </a:r>
                      <a:endParaRPr lang="en-US" altLang="en-US" sz="24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r>
              <a:tr h="772160">
                <a:tc>
                  <a:txBody>
                    <a:bodyPr/>
                    <a:p>
                      <a:pPr marL="0" indent="0">
                        <a:spcBef>
                          <a:spcPct val="0"/>
                        </a:spcBef>
                        <a:spcAft>
                          <a:spcPct val="0"/>
                        </a:spcAft>
                      </a:pPr>
                      <a:r>
                        <a:rPr lang="en-US" altLang="zh-CN" sz="2000" b="1">
                          <a:solidFill>
                            <a:srgbClr val="1B3A6B"/>
                          </a:solidFill>
                          <a:latin typeface="Calibri" panose="020F0502020204030204"/>
                          <a:ea typeface="Calibri" panose="020F0502020204030204"/>
                        </a:rPr>
                        <a:t>BRISC [16]</a:t>
                      </a:r>
                      <a:endParaRPr lang="en-US" altLang="zh-CN"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Core Training</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Classification Training + CV</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c>
                  <a:txBody>
                    <a:bodyPr/>
                    <a:p>
                      <a:pPr marL="0" indent="0" algn="ctr">
                        <a:spcBef>
                          <a:spcPct val="0"/>
                        </a:spcBef>
                        <a:spcAft>
                          <a:spcPct val="0"/>
                        </a:spcAft>
                        <a:buNone/>
                      </a:pPr>
                      <a:r>
                        <a:rPr lang="en-US" altLang="en-US" sz="2000" b="0">
                          <a:solidFill>
                            <a:srgbClr val="333333"/>
                          </a:solidFill>
                          <a:latin typeface="Calibri" panose="020F0502020204030204"/>
                          <a:ea typeface="Calibri" panose="020F0502020204030204"/>
                        </a:rPr>
                        <a:t>Protected (Priority 1 Foundation)</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EF4E7"/>
                    </a:solidFill>
                  </a:tcPr>
                </a:tc>
              </a:tr>
              <a:tr h="948055">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Mendeley [18]</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DANN Domain Target</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Domain Alignment Only</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en-US" sz="2000" b="0">
                          <a:solidFill>
                            <a:srgbClr val="333333"/>
                          </a:solidFill>
                          <a:latin typeface="Calibri" panose="020F0502020204030204"/>
                          <a:ea typeface="Calibri" panose="020F0502020204030204"/>
                        </a:rPr>
                        <a:t>Cleaned (Internal duplicates removed)</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772160">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Ayesha [19]</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External Validation 1</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Held-Out Test</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en-US" sz="2000" b="0">
                          <a:solidFill>
                            <a:srgbClr val="333333"/>
                          </a:solidFill>
                          <a:latin typeface="Calibri" panose="020F0502020204030204"/>
                          <a:ea typeface="Calibri" panose="020F0502020204030204"/>
                        </a:rPr>
                        <a:t>Cleaned (Zero leakage ensured)</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r h="772160">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Alam [20]</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External Validation 2</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Held-Out Test</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c>
                  <a:txBody>
                    <a:bodyPr/>
                    <a:p>
                      <a:pPr marL="0" indent="0" algn="ctr">
                        <a:spcBef>
                          <a:spcPct val="0"/>
                        </a:spcBef>
                        <a:spcAft>
                          <a:spcPct val="0"/>
                        </a:spcAft>
                        <a:buNone/>
                      </a:pPr>
                      <a:r>
                        <a:rPr lang="en-US" altLang="en-US" sz="2000" b="0">
                          <a:solidFill>
                            <a:srgbClr val="333333"/>
                          </a:solidFill>
                          <a:latin typeface="Calibri" panose="020F0502020204030204"/>
                          <a:ea typeface="Calibri" panose="020F0502020204030204"/>
                        </a:rPr>
                        <a:t>Cleaned (Zero leakage ensured)</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772160">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DeepPy [21]</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External Validation 3</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Held-Out Test</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c>
                  <a:txBody>
                    <a:bodyPr/>
                    <a:p>
                      <a:pPr marL="0" indent="0" algn="ctr">
                        <a:spcBef>
                          <a:spcPct val="0"/>
                        </a:spcBef>
                        <a:spcAft>
                          <a:spcPct val="0"/>
                        </a:spcAft>
                        <a:buNone/>
                      </a:pPr>
                      <a:r>
                        <a:rPr lang="en-US" altLang="en-US" sz="2000" b="0">
                          <a:solidFill>
                            <a:srgbClr val="333333"/>
                          </a:solidFill>
                          <a:latin typeface="Calibri" panose="020F0502020204030204"/>
                          <a:ea typeface="Calibri" panose="020F0502020204030204"/>
                        </a:rPr>
                        <a:t>Eliminated (100% redundant, discarded)</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09880"/>
            <a:ext cx="422656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Data Deduplication - Phase 2</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2" name="Table 1"/>
          <p:cNvGraphicFramePr/>
          <p:nvPr>
            <p:custDataLst>
              <p:tags r:id="rId2"/>
            </p:custDataLst>
          </p:nvPr>
        </p:nvGraphicFramePr>
        <p:xfrm>
          <a:off x="659765" y="1146175"/>
          <a:ext cx="10602595" cy="5147945"/>
        </p:xfrm>
        <a:graphic>
          <a:graphicData uri="http://schemas.openxmlformats.org/drawingml/2006/table">
            <a:tbl>
              <a:tblPr/>
              <a:tblGrid>
                <a:gridCol w="5292725"/>
                <a:gridCol w="5309870"/>
              </a:tblGrid>
              <a:tr h="1111250">
                <a:tc>
                  <a:txBody>
                    <a:bodyPr/>
                    <a:p>
                      <a:pPr marL="0" indent="0" algn="ctr">
                        <a:spcBef>
                          <a:spcPct val="0"/>
                        </a:spcBef>
                        <a:spcAft>
                          <a:spcPct val="0"/>
                        </a:spcAft>
                      </a:pPr>
                      <a:r>
                        <a:rPr lang="en-US" altLang="zh-CN" sz="2400" b="1">
                          <a:solidFill>
                            <a:srgbClr val="FFFFFF"/>
                          </a:solidFill>
                          <a:latin typeface="Calibri" panose="020F0502020204030204"/>
                          <a:ea typeface="Calibri" panose="020F0502020204030204"/>
                        </a:rPr>
                        <a:t>Deduplication Phase</a:t>
                      </a:r>
                      <a:endParaRPr lang="en-US" altLang="zh-CN" sz="24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c>
                  <a:txBody>
                    <a:bodyPr/>
                    <a:p>
                      <a:pPr marL="0" indent="0" algn="ctr">
                        <a:spcBef>
                          <a:spcPct val="0"/>
                        </a:spcBef>
                        <a:spcAft>
                          <a:spcPct val="0"/>
                        </a:spcAft>
                      </a:pPr>
                      <a:r>
                        <a:rPr lang="en-US" altLang="zh-CN" sz="2400" b="1">
                          <a:solidFill>
                            <a:srgbClr val="FFFFFF"/>
                          </a:solidFill>
                          <a:latin typeface="Calibri" panose="020F0502020204030204"/>
                          <a:ea typeface="Calibri" panose="020F0502020204030204"/>
                        </a:rPr>
                        <a:t>Role in Pipeline</a:t>
                      </a:r>
                      <a:endParaRPr lang="en-US" altLang="zh-CN" sz="2400" b="1">
                        <a:solidFill>
                          <a:srgbClr val="FFFFFF"/>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1B3A6B"/>
                    </a:solidFill>
                  </a:tcPr>
                </a:tc>
              </a:tr>
              <a:tr h="772160">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Total Images Scanned</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41,497</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r h="948055">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Internal Duplicates Removed</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7,947</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772160">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Cross-Dataset Leakages Removed</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19,138</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r h="772160">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Total Images Discarded</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27,085 (~65% of raw data)</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FFFFFF"/>
                    </a:solidFill>
                  </a:tcPr>
                </a:tc>
              </a:tr>
              <a:tr h="772160">
                <a:tc>
                  <a:txBody>
                    <a:bodyPr/>
                    <a:p>
                      <a:pPr marL="0" indent="0">
                        <a:spcBef>
                          <a:spcPct val="0"/>
                        </a:spcBef>
                        <a:spcAft>
                          <a:spcPct val="0"/>
                        </a:spcAft>
                      </a:pPr>
                      <a:r>
                        <a:rPr lang="en-US" altLang="en-US" sz="2000" b="1">
                          <a:solidFill>
                            <a:srgbClr val="1B3A6B"/>
                          </a:solidFill>
                          <a:latin typeface="Calibri" panose="020F0502020204030204"/>
                          <a:ea typeface="Calibri" panose="020F0502020204030204"/>
                        </a:rPr>
                        <a:t>Unique Clean Images Remaining</a:t>
                      </a:r>
                      <a:endParaRPr lang="en-US" altLang="en-US" sz="2000" b="1">
                        <a:solidFill>
                          <a:srgbClr val="1B3A6B"/>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6F7F6"/>
                    </a:solidFill>
                  </a:tcPr>
                </a:tc>
                <a:tc>
                  <a:txBody>
                    <a:bodyPr/>
                    <a:p>
                      <a:pPr marL="0" indent="0" algn="ctr">
                        <a:spcBef>
                          <a:spcPct val="0"/>
                        </a:spcBef>
                        <a:spcAft>
                          <a:spcPct val="0"/>
                        </a:spcAft>
                      </a:pPr>
                      <a:r>
                        <a:rPr lang="en-US" altLang="en-US" sz="2000" b="0">
                          <a:solidFill>
                            <a:srgbClr val="333333"/>
                          </a:solidFill>
                          <a:latin typeface="Calibri" panose="020F0502020204030204"/>
                          <a:ea typeface="Calibri" panose="020F0502020204030204"/>
                        </a:rPr>
                        <a:t>14,412</a:t>
                      </a:r>
                      <a:endParaRPr lang="en-US" altLang="en-US" sz="2000" b="0">
                        <a:solidFill>
                          <a:srgbClr val="333333"/>
                        </a:solidFill>
                        <a:latin typeface="Calibri" panose="020F0502020204030204"/>
                        <a:ea typeface="Calibri" panose="020F0502020204030204"/>
                      </a:endParaRPr>
                    </a:p>
                  </a:txBody>
                  <a:tcPr marL="88900" marR="88900" marT="50800" marB="50800" anchor="ctr" anchorCtr="0">
                    <a:lnL w="6350" cap="flat" cmpd="sng">
                      <a:solidFill>
                        <a:srgbClr val="C0D8D8"/>
                      </a:solidFill>
                      <a:prstDash val="solid"/>
                      <a:headEnd type="none" w="med" len="med"/>
                      <a:tailEnd type="none" w="med" len="med"/>
                    </a:lnL>
                    <a:lnR w="6350" cap="flat" cmpd="sng">
                      <a:solidFill>
                        <a:srgbClr val="C0D8D8"/>
                      </a:solidFill>
                      <a:prstDash val="solid"/>
                      <a:headEnd type="none" w="med" len="med"/>
                      <a:tailEnd type="none" w="med" len="med"/>
                    </a:lnR>
                    <a:lnT w="6350" cap="flat" cmpd="sng">
                      <a:solidFill>
                        <a:srgbClr val="C0D8D8"/>
                      </a:solidFill>
                      <a:prstDash val="solid"/>
                      <a:headEnd type="none" w="med" len="med"/>
                      <a:tailEnd type="none" w="med" len="med"/>
                    </a:lnT>
                    <a:lnB w="6350" cap="flat" cmpd="sng">
                      <a:solidFill>
                        <a:srgbClr val="C0D8D8"/>
                      </a:solidFill>
                      <a:prstDash val="solid"/>
                      <a:headEnd type="none" w="med" len="med"/>
                      <a:tailEnd type="none" w="med" len="med"/>
                    </a:lnB>
                    <a:solidFill>
                      <a:srgbClr val="EAF2FB"/>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Proposed System (Description)</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515175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Binary Classification System</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Takes a brain MRI scan as input and outputs a single binary prediction: Tumor or No Tumor, using a fine-tuned ResNet-18 backbone trained on BRISC 2025 [16].</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Binary Classification System </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Takes a brain MRI scan as input and outputs a single binary prediction: Tumor or No Tumor, using a fine-tuned ResNet-18 backbone trained on BRISC 2025 [16]</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pHash Data Audit (Phase 1.5) </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A DCT-</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based Perceptual Hashing pipeline</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[24]</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detected and removed 27,085 duplicate/leaked images across 5 public datasets -</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guaranteeing mathematically independent validation sets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Patient-Level 5-Fold Cross-Validation </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StratifiedGroupKFold ensures zero patient overlap between folds, achieving internal AUC: 0.9999, Sensitivity: 99.94%, Specificity: 97.57%.</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DANN + Gradient Reversal Layer (Phase 2) </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A Domain Adversarial Neural Network (DANN)</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[22]</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forces the feature extractor to learn domain-invariant features, resolving the 52.50% specificity collapse seen on external scanners.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External Validation </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Evaluated on the fully held-out Ghaffar dataset (never seen during training) -</a:t>
            </a:r>
            <a:r>
              <a:rPr lang="en-IN"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 </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AUC: 0.995, Sensitivity: 100%, zero missed tumors.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Proposed System (</a:t>
            </a:r>
            <a:r>
              <a:rPr lang="en-IN"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Phase - 1 </a:t>
            </a: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Flow Diagram)</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pic>
        <p:nvPicPr>
          <p:cNvPr id="3" name="Picture 2"/>
          <p:cNvPicPr>
            <a:picLocks noChangeAspect="1"/>
          </p:cNvPicPr>
          <p:nvPr/>
        </p:nvPicPr>
        <p:blipFill>
          <a:blip r:embed="rId2"/>
          <a:stretch>
            <a:fillRect/>
          </a:stretch>
        </p:blipFill>
        <p:spPr>
          <a:xfrm>
            <a:off x="3348355" y="1103630"/>
            <a:ext cx="5727065" cy="54692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Proposed System (</a:t>
            </a:r>
            <a:r>
              <a:rPr lang="en-IN"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Phase - 2 </a:t>
            </a: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Flow Diagram)</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pic>
        <p:nvPicPr>
          <p:cNvPr id="9" name="Image 9"/>
          <p:cNvPicPr/>
          <p:nvPr/>
        </p:nvPicPr>
        <p:blipFill>
          <a:blip r:embed="rId1" cstate="print"/>
          <a:stretch>
            <a:fillRect/>
          </a:stretch>
        </p:blipFill>
        <p:spPr>
          <a:xfrm>
            <a:off x="719773" y="1251585"/>
            <a:ext cx="10752455" cy="50247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Proposed System (Gantt chart)</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pic>
        <p:nvPicPr>
          <p:cNvPr id="3" name="Picture 2" descr="gantt_chart"/>
          <p:cNvPicPr>
            <a:picLocks noChangeAspect="1"/>
          </p:cNvPicPr>
          <p:nvPr/>
        </p:nvPicPr>
        <p:blipFill>
          <a:blip r:embed="rId2"/>
          <a:srcRect t="8906" b="8906"/>
          <a:stretch>
            <a:fillRect/>
          </a:stretch>
        </p:blipFill>
        <p:spPr>
          <a:xfrm>
            <a:off x="686435" y="1246505"/>
            <a:ext cx="10609580" cy="526478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IN"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T</a:t>
            </a: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ools </a:t>
            </a:r>
            <a:r>
              <a:rPr lang="en-IN"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A</a:t>
            </a: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nd </a:t>
            </a:r>
            <a:r>
              <a:rPr lang="en-IN"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T</a:t>
            </a: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echnicannology</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468630" y="1124585"/>
            <a:ext cx="4729480" cy="567499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Programming &amp; Environment</a:t>
            </a:r>
            <a:endParaRPr lang="en-US"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0" marR="0" lvl="0" indent="0" algn="just" rtl="0">
              <a:spcBef>
                <a:spcPts val="0"/>
              </a:spcBef>
              <a:spcAft>
                <a:spcPts val="0"/>
              </a:spcAft>
              <a:buClr>
                <a:srgbClr val="000000"/>
              </a:buClr>
              <a:buSzPts val="1700"/>
              <a:buFont typeface="Arial" panose="020B0604020202020204" pitchFamily="34" charset="0"/>
              <a:buNone/>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Python 3</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Google Colab</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Jupyter Notebook</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Deep Learning</a:t>
            </a:r>
            <a:endParaRPr lang="en-US"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PyTorch</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Torchvision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ResNet-18 (Pretrained </a:t>
            </a:r>
            <a:r>
              <a:rPr lang="en-IN"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t>
            </a: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ImageNet)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DANN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Gradient Reversal Layer</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Preprocessing</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OpenCV (cv2)</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PIL / Pillow</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NumPy</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ImageHash</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Contrast enhancement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
        <p:nvSpPr>
          <p:cNvPr id="2" name="Google Shape;106;p4"/>
          <p:cNvSpPr txBox="1"/>
          <p:nvPr/>
        </p:nvSpPr>
        <p:spPr>
          <a:xfrm>
            <a:off x="4488180" y="1118235"/>
            <a:ext cx="3472815" cy="436689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Training &amp; Optimization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AdamW Optimizer</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CosineAnnealingLR</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BCEWithLogitsLoss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GradScaler (AMP)</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Evaluation &amp; Metrics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Scikit-learn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Seaborn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Matplotlib</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Stratified Group k-fold cross-validation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
        <p:nvSpPr>
          <p:cNvPr id="3" name="Google Shape;106;p4"/>
          <p:cNvSpPr txBox="1"/>
          <p:nvPr/>
        </p:nvSpPr>
        <p:spPr>
          <a:xfrm>
            <a:off x="7830185" y="1111885"/>
            <a:ext cx="4203065" cy="567499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Version Control &amp; Documentation</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GitHub</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Microsoft Word</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Microsoft PowerPoint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Overleaf</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Git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Data &amp; Storage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KaggleHub</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Google Drive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BRISC 2025 Dataset[16]</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Figshare Datase[17]</a:t>
            </a: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Mendeley[18]</a:t>
            </a: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Ayesha [19]</a:t>
            </a: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Alam [20]</a:t>
            </a: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DeepPy [21]</a:t>
            </a: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457200" marR="0" lvl="1" indent="0" algn="just" rtl="0">
              <a:spcBef>
                <a:spcPts val="0"/>
              </a:spcBef>
              <a:spcAft>
                <a:spcPts val="0"/>
              </a:spcAft>
              <a:buClr>
                <a:srgbClr val="000000"/>
              </a:buClr>
              <a:buSzPts val="1700"/>
              <a:buFont typeface="Arial" panose="020B0604020202020204" pitchFamily="34" charset="0"/>
              <a:buNone/>
            </a:pP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742950" marR="0" lvl="1"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Preprocessing Pipeline </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489013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Perceptual Hashing (pHash) Deduplication (Phase 2 Only) - Scans all datasets globally to identify and permanently delete structural duplicates before any other processing begins. This strictly prevents cross-dataset data leakage between source, target, and validation domains.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In-Memory RAM Caching (Phase 2 Only) - Caches all preprocessed datasets directly into RAM (≈1.9 GB) to handle complex multi-domain epoch loops. This entirely bypasses slow disk I/O bottlenecks during DANN training.</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Auto-Crop -</a:t>
            </a:r>
            <a:r>
              <a:rPr lang="en-IN"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a:t>
            </a: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MRI scans often have large black borders around the brain. The system automatically detects the brain boundary using contour detection and crops out everything else -so the model only sees the brain, not the background noise.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CLAHE (Contrast Limited Adaptive Histogram Equalization) - MRI images from different scanners have different brightness and contrast levels. CLAHE improves the local contrast of the image -making tumor regions and brain tissue more clearly visible without over-brightening the image.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Preprocessing Pipeline </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462851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Resize to 224×224 - Resizes all variable-sized, cropped images to a fixed standard using bicubic interpolation. Preserves image quality while satisfying ResNet-18's strict spatial input requirements.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Grayscale to RGB Conversion - MRI scans are grayscale images but ResNet-18 was trained on 3-channel RGB images. The single grayscale channel is replicated 3 times to match the expected input format.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Z-Score Normalization(PHASE 1- ONLY) -</a:t>
            </a:r>
            <a:r>
              <a:rPr lang="en-IN"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a:t>
            </a: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Each image has different pixel intensity ranges. Z-score brings all images to the same scale -zero mean and unit variance -so the model treats every image equally regardless of which scanner it came from.</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Min-Max Rescaling (Phase 2 Update) - Scales raw pixel intensities strictly to a [0.0, 1.0] range. Replaced Z-Score because Z-Score's negative values mathematically break the pretrained ImageNet normalization assumptions and cause zero-padding during spatial augmentations to appear as artificial bright edges.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Preprocessing Pipeline</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227393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ImageNet Normalization - The pixel values are normalized using ImageNet mean and standard deviation -because ResNet-18 was originally trained on ImageNet. This ensures the pretrained weights work correctly on our data.</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Data Augmentation (Training Only) - To prevent overfitting, training images are randomly flipped horizontally and vertically, rotated, and slightly shifted. This is applied only to training data -never to test data.</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Methodology (phase 1)</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44259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2" name="Table 1"/>
          <p:cNvGraphicFramePr/>
          <p:nvPr>
            <p:custDataLst>
              <p:tags r:id="rId2"/>
            </p:custDataLst>
          </p:nvPr>
        </p:nvGraphicFramePr>
        <p:xfrm>
          <a:off x="647065" y="1198880"/>
          <a:ext cx="10668635" cy="5227955"/>
        </p:xfrm>
        <a:graphic>
          <a:graphicData uri="http://schemas.openxmlformats.org/drawingml/2006/table">
            <a:tbl>
              <a:tblPr/>
              <a:tblGrid>
                <a:gridCol w="1297305"/>
                <a:gridCol w="2152650"/>
                <a:gridCol w="2151380"/>
                <a:gridCol w="2151380"/>
                <a:gridCol w="2915920"/>
              </a:tblGrid>
              <a:tr h="205740">
                <a:tc>
                  <a:txBody>
                    <a:bodyPr/>
                    <a:p>
                      <a:pPr marL="0" indent="0" algn="ctr">
                        <a:spcBef>
                          <a:spcPct val="0"/>
                        </a:spcBef>
                        <a:spcAft>
                          <a:spcPct val="0"/>
                        </a:spcAft>
                      </a:pPr>
                      <a:r>
                        <a:rPr lang="en-US" altLang="zh-CN" sz="600" b="1">
                          <a:solidFill>
                            <a:srgbClr val="FFFFFF"/>
                          </a:solidFill>
                          <a:latin typeface="Arial" panose="020B0604020202020204"/>
                          <a:ea typeface="Arial" panose="020B0604020202020204"/>
                        </a:rPr>
                        <a:t>DIMENSION</a:t>
                      </a:r>
                      <a:endParaRPr lang="en-US" altLang="zh-CN" sz="6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600" b="1">
                          <a:solidFill>
                            <a:srgbClr val="FFFFFF"/>
                          </a:solidFill>
                          <a:latin typeface="Arial" panose="020B0604020202020204"/>
                          <a:ea typeface="Arial" panose="020B0604020202020204"/>
                        </a:rPr>
                        <a:t>V1</a:t>
                      </a:r>
                      <a:endParaRPr lang="en-US" altLang="zh-CN" sz="6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600" b="1">
                          <a:solidFill>
                            <a:srgbClr val="FFFFFF"/>
                          </a:solidFill>
                          <a:latin typeface="Arial" panose="020B0604020202020204"/>
                          <a:ea typeface="Arial" panose="020B0604020202020204"/>
                        </a:rPr>
                        <a:t>V2</a:t>
                      </a:r>
                      <a:endParaRPr lang="en-US" altLang="zh-CN" sz="6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600" b="1">
                          <a:solidFill>
                            <a:srgbClr val="FFFFFF"/>
                          </a:solidFill>
                          <a:latin typeface="Arial" panose="020B0604020202020204"/>
                          <a:ea typeface="Arial" panose="020B0604020202020204"/>
                        </a:rPr>
                        <a:t>V3</a:t>
                      </a:r>
                      <a:endParaRPr lang="en-US" altLang="zh-CN" sz="6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600" b="1">
                          <a:solidFill>
                            <a:srgbClr val="FFFFFF"/>
                          </a:solidFill>
                          <a:latin typeface="Arial" panose="020B0604020202020204"/>
                          <a:ea typeface="Arial" panose="020B0604020202020204"/>
                        </a:rPr>
                        <a:t>V4  (StratifiedGroupKFold)</a:t>
                      </a:r>
                      <a:endParaRPr lang="en-US" altLang="zh-CN" sz="6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r>
              <a:tr h="20574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GPU</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Tesla T4 15GB</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Tesla T4 15GB</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Tesla T4 15GB</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Tesla T4 15GB</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23495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Resize → Crop</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312×312 → CenterCrop 256×256</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280×280 → CenterCrop 256×256</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280×280 → CenterCrop 256×256</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224×224 direct resize -optimal for ResNet-18</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0574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Batch Size</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32</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856404"/>
                          </a:solidFill>
                          <a:latin typeface="Arial" panose="020B0604020202020204"/>
                          <a:ea typeface="Arial" panose="020B0604020202020204"/>
                        </a:rPr>
                        <a:t>64</a:t>
                      </a:r>
                      <a:endParaRPr lang="en-US" altLang="zh-CN" sz="6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32</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32</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31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Training Epochs</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15</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15</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15</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25</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0574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Optimizer</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856404"/>
                          </a:solidFill>
                          <a:latin typeface="Arial" panose="020B0604020202020204"/>
                          <a:ea typeface="Arial" panose="020B0604020202020204"/>
                        </a:rPr>
                        <a:t>Adam  lr=0.001</a:t>
                      </a:r>
                      <a:endParaRPr lang="en-US" altLang="zh-CN" sz="6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600" b="0">
                          <a:solidFill>
                            <a:srgbClr val="856404"/>
                          </a:solidFill>
                          <a:latin typeface="Arial" panose="020B0604020202020204"/>
                          <a:ea typeface="Arial" panose="020B0604020202020204"/>
                        </a:rPr>
                        <a:t>Adam  lr=0.001</a:t>
                      </a:r>
                      <a:endParaRPr lang="en-US" altLang="zh-CN" sz="6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600" b="0">
                          <a:solidFill>
                            <a:srgbClr val="856404"/>
                          </a:solidFill>
                          <a:latin typeface="Arial" panose="020B0604020202020204"/>
                          <a:ea typeface="Arial" panose="020B0604020202020204"/>
                        </a:rPr>
                        <a:t>Adam  lr=0.001</a:t>
                      </a:r>
                      <a:endParaRPr lang="en-US" altLang="zh-CN" sz="6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AdamW  lr=1e-4  wd=1e-4</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0574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LR Scheduler</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CosineAnnealingLR</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31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ResNet-18 Head</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Linear(512→1)  no Dropout</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Linear(512→1)  no Dropout</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Linear(512→1)  no Dropout</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Dropout(0.5) + Linear(512→1)</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31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Loss Function</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BCEWithLogitsLoss</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BCEWithLogitsLoss</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BCEWithLogitsLoss</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BCEWithLogitsLoss</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30543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Mixed Precision (AMP)</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Yes -GradScaler + autocast</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30670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Image Preprocessing</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Resize + crop + augment only</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Same as V1</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Same as V1</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Auto-crop → CLAHE → Z-score → Resize → RGB</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30607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Pixel Normalisation</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ImageNet Normalize(mean, std)</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95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Train/Val Split</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BRISC original train/ test/ folders</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Same as V1</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Same as V1</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Merged all BRISC → StratifiedGroupKFold</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368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Patient-Level Splitting</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 -slice level</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 -slice level</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 -slice level</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Yes -synthetic patient_id + assert</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31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Cross-Validation</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 -single fixed split</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5-Fold CV -mean ± std</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31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Augmentation Leakage</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856404"/>
                          </a:solidFill>
                          <a:latin typeface="Arial" panose="020B0604020202020204"/>
                          <a:ea typeface="Arial" panose="020B0604020202020204"/>
                        </a:rPr>
                        <a:t>Risk -same transform train+val</a:t>
                      </a:r>
                      <a:endParaRPr lang="en-US" altLang="zh-CN" sz="6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600" b="0">
                          <a:solidFill>
                            <a:srgbClr val="856404"/>
                          </a:solidFill>
                          <a:latin typeface="Arial" panose="020B0604020202020204"/>
                          <a:ea typeface="Arial" panose="020B0604020202020204"/>
                        </a:rPr>
                        <a:t>Risk</a:t>
                      </a:r>
                      <a:endParaRPr lang="en-US" altLang="zh-CN" sz="6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600" b="0">
                          <a:solidFill>
                            <a:srgbClr val="856404"/>
                          </a:solidFill>
                          <a:latin typeface="Arial" panose="020B0604020202020204"/>
                          <a:ea typeface="Arial" panose="020B0604020202020204"/>
                        </a:rPr>
                        <a:t>Risk</a:t>
                      </a:r>
                      <a:endParaRPr lang="en-US" altLang="zh-CN" sz="6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Prevented -split first, augment train only</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368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Augmentations</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HFlip(0.5) + Rotation(15) + CenterCrop</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Same as V1</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Same as V1</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HFlip + VFlip + Rotation + ColorJitter + Affine</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95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Decision Threshold</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0.30 -non-standard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0.30 -non-standard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0.30 -non-standard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0.50 -standard</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95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Figshare External Test</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Not performed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Not performed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Not performed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Yes -fully held-out</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31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Preprocessing Cache</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 -re-preprocess every epoch</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None</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Yes -each image processed once</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3680">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Reproducibility Seed</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 fixed seed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 fixed seed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721C24"/>
                          </a:solidFill>
                          <a:latin typeface="Arial" panose="020B0604020202020204"/>
                          <a:ea typeface="Arial" panose="020B0604020202020204"/>
                        </a:rPr>
                        <a:t>No fixed seed</a:t>
                      </a:r>
                      <a:endParaRPr lang="en-US" altLang="zh-CN" sz="6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seed=42 all frameworks</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r h="234315">
                <a:tc>
                  <a:txBody>
                    <a:bodyPr/>
                    <a:p>
                      <a:pPr marL="0" indent="0" algn="l">
                        <a:spcBef>
                          <a:spcPct val="0"/>
                        </a:spcBef>
                        <a:spcAft>
                          <a:spcPct val="0"/>
                        </a:spcAft>
                      </a:pPr>
                      <a:r>
                        <a:rPr lang="en-US" altLang="zh-CN" sz="600" b="1">
                          <a:solidFill>
                            <a:srgbClr val="1B3A5C"/>
                          </a:solidFill>
                          <a:latin typeface="Arial" panose="020B0604020202020204"/>
                          <a:ea typeface="Arial" panose="020B0604020202020204"/>
                        </a:rPr>
                        <a:t>Saved Model File</a:t>
                      </a:r>
                      <a:endParaRPr lang="en-US" altLang="zh-CN" sz="6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brisc_binary_model_312_v2.pth</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brisc_binary_model_280.pth</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11111"/>
                          </a:solidFill>
                          <a:latin typeface="Arial" panose="020B0604020202020204"/>
                          <a:ea typeface="Arial" panose="020B0604020202020204"/>
                        </a:rPr>
                        <a:t>brisc_binary_model.pth</a:t>
                      </a:r>
                      <a:endParaRPr lang="en-US" altLang="zh-CN" sz="600" b="0">
                        <a:solidFill>
                          <a:srgbClr val="111111"/>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c>
                  <a:txBody>
                    <a:bodyPr/>
                    <a:p>
                      <a:pPr marL="0" indent="0" algn="ctr">
                        <a:spcBef>
                          <a:spcPct val="0"/>
                        </a:spcBef>
                        <a:spcAft>
                          <a:spcPct val="0"/>
                        </a:spcAft>
                      </a:pPr>
                      <a:r>
                        <a:rPr lang="en-US" altLang="zh-CN" sz="600" b="0">
                          <a:solidFill>
                            <a:srgbClr val="155724"/>
                          </a:solidFill>
                          <a:latin typeface="Arial" panose="020B0604020202020204"/>
                          <a:ea typeface="Arial" panose="020B0604020202020204"/>
                        </a:rPr>
                        <a:t>best_model_brisc.pth (best AUC fold)</a:t>
                      </a:r>
                      <a:endParaRPr lang="en-US" altLang="zh-CN" sz="6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Methodology </a:t>
            </a: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(phase 2)</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44259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5" name="Table 4"/>
          <p:cNvGraphicFramePr/>
          <p:nvPr>
            <p:custDataLst>
              <p:tags r:id="rId2"/>
            </p:custDataLst>
          </p:nvPr>
        </p:nvGraphicFramePr>
        <p:xfrm>
          <a:off x="1033145" y="1316355"/>
          <a:ext cx="8641715" cy="5210175"/>
        </p:xfrm>
        <a:graphic>
          <a:graphicData uri="http://schemas.openxmlformats.org/drawingml/2006/table">
            <a:tbl>
              <a:tblPr/>
              <a:tblGrid>
                <a:gridCol w="2356485"/>
                <a:gridCol w="6285230"/>
              </a:tblGrid>
              <a:tr h="216535">
                <a:tc>
                  <a:txBody>
                    <a:bodyPr/>
                    <a:p>
                      <a:pPr algn="ctr" fontAlgn="ctr"/>
                      <a:r>
                        <a:rPr lang="en-US" altLang="zh-CN" sz="1100" b="1" i="0">
                          <a:solidFill>
                            <a:srgbClr val="FFFFFF"/>
                          </a:solidFill>
                          <a:latin typeface="Calibri" panose="020F0502020204030204"/>
                          <a:ea typeface="Calibri" panose="020F0502020204030204"/>
                        </a:rPr>
                        <a:t>DIMENSION</a:t>
                      </a:r>
                      <a:endParaRPr lang="en-US" altLang="zh-CN" sz="1100" b="1" i="0">
                        <a:solidFill>
                          <a:srgbClr val="FFFFFF"/>
                        </a:solidFill>
                        <a:latin typeface="Calibri" panose="020F0502020204030204"/>
                        <a:ea typeface="Calibri" panose="020F0502020204030204"/>
                      </a:endParaRPr>
                    </a:p>
                  </a:txBody>
                  <a:tcPr marL="7937" marR="7937" marT="7937"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c>
                  <a:txBody>
                    <a:bodyPr/>
                    <a:p>
                      <a:pPr algn="ctr" fontAlgn="ctr"/>
                      <a:r>
                        <a:rPr lang="en-US" altLang="zh-CN" sz="1100" b="1" i="0">
                          <a:solidFill>
                            <a:srgbClr val="FFFFFF"/>
                          </a:solidFill>
                          <a:latin typeface="Calibri" panose="020F0502020204030204"/>
                          <a:ea typeface="Calibri" panose="020F0502020204030204"/>
                        </a:rPr>
                        <a:t>V5 (DANN)</a:t>
                      </a:r>
                      <a:endParaRPr lang="en-US" altLang="zh-CN" sz="1100" b="1" i="0">
                        <a:solidFill>
                          <a:srgbClr val="FFFFFF"/>
                        </a:solidFill>
                        <a:latin typeface="Calibri" panose="020F0502020204030204"/>
                        <a:ea typeface="Calibri" panose="020F0502020204030204"/>
                      </a:endParaRPr>
                    </a:p>
                  </a:txBody>
                  <a:tcPr marL="7937" marR="7937" marT="7937"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r>
              <a:tr h="199390">
                <a:tc>
                  <a:txBody>
                    <a:bodyPr/>
                    <a:p>
                      <a:pPr algn="l" fontAlgn="t"/>
                      <a:r>
                        <a:rPr lang="en-US" altLang="zh-CN" sz="1000" b="0" i="0">
                          <a:solidFill>
                            <a:srgbClr val="000000"/>
                          </a:solidFill>
                          <a:latin typeface="Calibri" panose="020F0502020204030204"/>
                          <a:ea typeface="Calibri" panose="020F0502020204030204"/>
                        </a:rPr>
                        <a:t>GPU</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CC"/>
                    </a:solidFill>
                  </a:tcPr>
                </a:tc>
                <a:tc>
                  <a:txBody>
                    <a:bodyPr/>
                    <a:p>
                      <a:pPr algn="l" fontAlgn="t"/>
                      <a:r>
                        <a:rPr lang="en-US" altLang="zh-CN" sz="1000" b="0" i="0">
                          <a:solidFill>
                            <a:srgbClr val="000000"/>
                          </a:solidFill>
                          <a:latin typeface="Calibri" panose="020F0502020204030204"/>
                          <a:ea typeface="Calibri" panose="020F0502020204030204"/>
                        </a:rPr>
                        <a:t>Tesla T4 16GB</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CC"/>
                    </a:solidFill>
                  </a:tcPr>
                </a:tc>
              </a:tr>
              <a:tr h="200025">
                <a:tc>
                  <a:txBody>
                    <a:bodyPr/>
                    <a:p>
                      <a:pPr algn="l" fontAlgn="t"/>
                      <a:r>
                        <a:rPr lang="en-US" altLang="zh-CN" sz="1000" b="0" i="0">
                          <a:solidFill>
                            <a:srgbClr val="000000"/>
                          </a:solidFill>
                          <a:latin typeface="Calibri" panose="020F0502020204030204"/>
                          <a:ea typeface="Calibri" panose="020F0502020204030204"/>
                        </a:rPr>
                        <a:t>Resize — Crop</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algn="l" fontAlgn="t"/>
                      <a:r>
                        <a:rPr lang="en-US" altLang="zh-CN" sz="1000" b="0" i="0">
                          <a:solidFill>
                            <a:srgbClr val="000000"/>
                          </a:solidFill>
                          <a:latin typeface="Calibri" panose="020F0502020204030204"/>
                          <a:ea typeface="Calibri" panose="020F0502020204030204"/>
                        </a:rPr>
                        <a:t>224×224 direct resize optimal for ResNet-19</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199390">
                <a:tc>
                  <a:txBody>
                    <a:bodyPr/>
                    <a:p>
                      <a:pPr algn="l" fontAlgn="t"/>
                      <a:r>
                        <a:rPr lang="en-US" altLang="zh-CN" sz="1000" b="0" i="0">
                          <a:solidFill>
                            <a:srgbClr val="000000"/>
                          </a:solidFill>
                          <a:latin typeface="Calibri" panose="020F0502020204030204"/>
                          <a:ea typeface="Calibri" panose="020F0502020204030204"/>
                        </a:rPr>
                        <a:t>Batch Size</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algn="l" fontAlgn="t"/>
                      <a:r>
                        <a:rPr lang="en-US" altLang="zh-CN" sz="1000" b="0" i="0">
                          <a:solidFill>
                            <a:srgbClr val="000000"/>
                          </a:solidFill>
                          <a:latin typeface="Calibri" panose="020F0502020204030204"/>
                          <a:ea typeface="Calibri" panose="020F0502020204030204"/>
                        </a:rPr>
                        <a:t>32</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199390">
                <a:tc>
                  <a:txBody>
                    <a:bodyPr/>
                    <a:p>
                      <a:pPr algn="l" fontAlgn="t"/>
                      <a:r>
                        <a:rPr lang="en-US" altLang="zh-CN" sz="1000" b="0" i="0">
                          <a:solidFill>
                            <a:srgbClr val="000000"/>
                          </a:solidFill>
                          <a:latin typeface="Calibri" panose="020F0502020204030204"/>
                          <a:ea typeface="Calibri" panose="020F0502020204030204"/>
                        </a:rPr>
                        <a:t>Training Epochs</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algn="l" fontAlgn="t"/>
                      <a:r>
                        <a:rPr lang="en-US" altLang="zh-CN" sz="1000" b="0" i="0">
                          <a:solidFill>
                            <a:srgbClr val="000000"/>
                          </a:solidFill>
                          <a:latin typeface="Calibri" panose="020F0502020204030204"/>
                          <a:ea typeface="Calibri" panose="020F0502020204030204"/>
                        </a:rPr>
                        <a:t>25</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200025">
                <a:tc>
                  <a:txBody>
                    <a:bodyPr/>
                    <a:p>
                      <a:pPr algn="l" fontAlgn="t"/>
                      <a:r>
                        <a:rPr lang="en-US" altLang="zh-CN" sz="1000" b="0" i="0">
                          <a:solidFill>
                            <a:srgbClr val="000000"/>
                          </a:solidFill>
                          <a:latin typeface="Calibri" panose="020F0502020204030204"/>
                          <a:ea typeface="Calibri" panose="020F0502020204030204"/>
                        </a:rPr>
                        <a:t>Optimizer</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algn="l" fontAlgn="t"/>
                      <a:r>
                        <a:rPr lang="en-US" altLang="zh-CN" sz="1000" b="0" i="0">
                          <a:solidFill>
                            <a:srgbClr val="000000"/>
                          </a:solidFill>
                          <a:latin typeface="Calibri" panose="020F0502020204030204"/>
                          <a:ea typeface="Calibri" panose="020F0502020204030204"/>
                        </a:rPr>
                        <a:t>AdamW lr=1e-4, wd=1e-4</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200660">
                <a:tc>
                  <a:txBody>
                    <a:bodyPr/>
                    <a:p>
                      <a:pPr algn="l" fontAlgn="t"/>
                      <a:r>
                        <a:rPr lang="en-US" altLang="zh-CN" sz="1000" b="0" i="0">
                          <a:solidFill>
                            <a:srgbClr val="000000"/>
                          </a:solidFill>
                          <a:latin typeface="Calibri" panose="020F0502020204030204"/>
                          <a:ea typeface="Calibri" panose="020F0502020204030204"/>
                        </a:rPr>
                        <a:t>LR Scheduler</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algn="l" fontAlgn="t"/>
                      <a:r>
                        <a:rPr lang="en-US" altLang="zh-CN" sz="1000" b="0" i="0">
                          <a:solidFill>
                            <a:srgbClr val="000000"/>
                          </a:solidFill>
                          <a:latin typeface="Calibri" panose="020F0502020204030204"/>
                          <a:ea typeface="Calibri" panose="020F0502020204030204"/>
                        </a:rPr>
                        <a:t>CosineAnnealingLR</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199390">
                <a:tc>
                  <a:txBody>
                    <a:bodyPr/>
                    <a:p>
                      <a:pPr algn="l" fontAlgn="t"/>
                      <a:r>
                        <a:rPr lang="en-US" altLang="zh-CN" sz="1000" b="0" i="0">
                          <a:solidFill>
                            <a:srgbClr val="000000"/>
                          </a:solidFill>
                          <a:latin typeface="Calibri" panose="020F0502020204030204"/>
                          <a:ea typeface="Calibri" panose="020F0502020204030204"/>
                        </a:rPr>
                        <a:t>ResNet-18 Head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algn="l" fontAlgn="t"/>
                      <a:r>
                        <a:rPr lang="en-US" altLang="zh-CN" sz="1000" b="0" i="0">
                          <a:solidFill>
                            <a:srgbClr val="000000"/>
                          </a:solidFill>
                          <a:latin typeface="Calibri" panose="020F0502020204030204"/>
                          <a:ea typeface="Calibri" panose="020F0502020204030204"/>
                        </a:rPr>
                        <a:t>Dropout(0.5) + Linear(512→1)</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199390">
                <a:tc>
                  <a:txBody>
                    <a:bodyPr/>
                    <a:p>
                      <a:pPr algn="l" fontAlgn="t"/>
                      <a:r>
                        <a:rPr lang="en-US" altLang="zh-CN" sz="1000" b="0" i="0">
                          <a:solidFill>
                            <a:srgbClr val="000000"/>
                          </a:solidFill>
                          <a:latin typeface="Calibri" panose="020F0502020204030204"/>
                          <a:ea typeface="Calibri" panose="020F0502020204030204"/>
                        </a:rPr>
                        <a:t>Loss Function</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l" fontAlgn="t"/>
                      <a:r>
                        <a:rPr lang="en-US" altLang="zh-CN" sz="1000" b="0" i="0">
                          <a:solidFill>
                            <a:srgbClr val="000000"/>
                          </a:solidFill>
                          <a:latin typeface="Calibri" panose="020F0502020204030204"/>
                          <a:ea typeface="Calibri" panose="020F0502020204030204"/>
                        </a:rPr>
                        <a:t>BCEWithLogitLoss</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r>
              <a:tr h="200660">
                <a:tc>
                  <a:txBody>
                    <a:bodyPr/>
                    <a:p>
                      <a:pPr algn="l" fontAlgn="t"/>
                      <a:r>
                        <a:rPr lang="en-US" altLang="zh-CN" sz="1000" b="0" i="0">
                          <a:solidFill>
                            <a:srgbClr val="000000"/>
                          </a:solidFill>
                          <a:latin typeface="Calibri" panose="020F0502020204030204"/>
                          <a:ea typeface="Calibri" panose="020F0502020204030204"/>
                        </a:rPr>
                        <a:t>Dual Loss Specification</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BDD7EE"/>
                    </a:solidFill>
                  </a:tcPr>
                </a:tc>
                <a:tc>
                  <a:txBody>
                    <a:bodyPr/>
                    <a:p>
                      <a:pPr algn="l" fontAlgn="t"/>
                      <a:r>
                        <a:rPr lang="en-US" altLang="zh-CN" sz="1000" b="0" i="0">
                          <a:solidFill>
                            <a:srgbClr val="000000"/>
                          </a:solidFill>
                          <a:latin typeface="Calibri" panose="020F0502020204030204"/>
                          <a:ea typeface="Calibri" panose="020F0502020204030204"/>
                        </a:rPr>
                        <a:t>Classification (BCE) + Domain (CE)</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BDD7EE"/>
                    </a:solidFill>
                  </a:tcPr>
                </a:tc>
              </a:tr>
              <a:tr h="199390">
                <a:tc>
                  <a:txBody>
                    <a:bodyPr/>
                    <a:p>
                      <a:pPr algn="l" fontAlgn="t"/>
                      <a:r>
                        <a:rPr lang="en-US" altLang="zh-CN" sz="1000" b="0" i="0">
                          <a:solidFill>
                            <a:srgbClr val="000000"/>
                          </a:solidFill>
                          <a:latin typeface="Calibri" panose="020F0502020204030204"/>
                          <a:ea typeface="Calibri" panose="020F0502020204030204"/>
                        </a:rPr>
                        <a:t>GRL Strategy (Alpha)</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l" fontAlgn="t"/>
                      <a:r>
                        <a:rPr lang="en-US" altLang="zh-CN" sz="1000" b="0" i="0">
                          <a:solidFill>
                            <a:srgbClr val="000000"/>
                          </a:solidFill>
                          <a:latin typeface="Calibri" panose="020F0502020204030204"/>
                          <a:ea typeface="Calibri" panose="020F0502020204030204"/>
                        </a:rPr>
                        <a:t>Dynamic (Ganin Schedule)</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r>
              <a:tr h="199390">
                <a:tc>
                  <a:txBody>
                    <a:bodyPr/>
                    <a:p>
                      <a:pPr algn="l" fontAlgn="t"/>
                      <a:r>
                        <a:rPr lang="en-US" altLang="zh-CN" sz="1000" b="0" i="0">
                          <a:solidFill>
                            <a:srgbClr val="000000"/>
                          </a:solidFill>
                          <a:latin typeface="Calibri" panose="020F0502020204030204"/>
                          <a:ea typeface="Calibri" panose="020F0502020204030204"/>
                        </a:rPr>
                        <a:t>Data Hygiene / Deduplication</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l" fontAlgn="t"/>
                      <a:r>
                        <a:rPr lang="en-US" altLang="zh-CN" sz="1000" b="0" i="0">
                          <a:solidFill>
                            <a:srgbClr val="000000"/>
                          </a:solidFill>
                          <a:latin typeface="Calibri" panose="020F0502020204030204"/>
                          <a:ea typeface="Calibri" panose="020F0502020204030204"/>
                        </a:rPr>
                        <a:t>pHash Deduplicated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r>
              <a:tr h="199390">
                <a:tc>
                  <a:txBody>
                    <a:bodyPr/>
                    <a:p>
                      <a:pPr algn="l" fontAlgn="t"/>
                      <a:r>
                        <a:rPr lang="en-US" altLang="zh-CN" sz="1000" b="0" i="0">
                          <a:solidFill>
                            <a:srgbClr val="000000"/>
                          </a:solidFill>
                          <a:latin typeface="Calibri" panose="020F0502020204030204"/>
                          <a:ea typeface="Calibri" panose="020F0502020204030204"/>
                        </a:rPr>
                        <a:t>Mixed Precision (AMP)</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c>
                  <a:txBody>
                    <a:bodyPr/>
                    <a:p>
                      <a:pPr algn="l" fontAlgn="t"/>
                      <a:r>
                        <a:rPr lang="en-US" altLang="zh-CN" sz="1000" b="0" i="0">
                          <a:solidFill>
                            <a:srgbClr val="000000"/>
                          </a:solidFill>
                          <a:latin typeface="Calibri" panose="020F0502020204030204"/>
                          <a:ea typeface="Calibri" panose="020F0502020204030204"/>
                        </a:rPr>
                        <a:t>Yes -GradScaler + autocast</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r>
              <a:tr h="200025">
                <a:tc>
                  <a:txBody>
                    <a:bodyPr/>
                    <a:p>
                      <a:pPr algn="l" fontAlgn="t"/>
                      <a:r>
                        <a:rPr lang="en-US" altLang="zh-CN" sz="1000" b="0" i="0">
                          <a:solidFill>
                            <a:srgbClr val="000000"/>
                          </a:solidFill>
                          <a:latin typeface="Calibri" panose="020F0502020204030204"/>
                          <a:ea typeface="Calibri" panose="020F0502020204030204"/>
                        </a:rPr>
                        <a:t>Image Preprocessing</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c>
                  <a:txBody>
                    <a:bodyPr/>
                    <a:p>
                      <a:pPr algn="l" fontAlgn="t"/>
                      <a:r>
                        <a:rPr lang="en-US" altLang="zh-CN" sz="1000" b="0" i="0">
                          <a:solidFill>
                            <a:srgbClr val="000000"/>
                          </a:solidFill>
                          <a:latin typeface="Calibri" panose="020F0502020204030204"/>
                          <a:ea typeface="Calibri" panose="020F0502020204030204"/>
                        </a:rPr>
                        <a:t>Auto-crop — CLAHE — Z-score — Resize → RGB</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r>
              <a:tr h="200025">
                <a:tc>
                  <a:txBody>
                    <a:bodyPr/>
                    <a:p>
                      <a:pPr algn="l" fontAlgn="t"/>
                      <a:r>
                        <a:rPr lang="en-US" altLang="zh-CN" sz="1000" b="0" i="0">
                          <a:solidFill>
                            <a:srgbClr val="000000"/>
                          </a:solidFill>
                          <a:latin typeface="Calibri" panose="020F0502020204030204"/>
                          <a:ea typeface="Calibri" panose="020F0502020204030204"/>
                        </a:rPr>
                        <a:t>Pixel Normalisation</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c>
                  <a:txBody>
                    <a:bodyPr/>
                    <a:p>
                      <a:pPr algn="l" fontAlgn="t"/>
                      <a:r>
                        <a:rPr lang="en-US" altLang="zh-CN" sz="1000" b="0" i="0">
                          <a:solidFill>
                            <a:srgbClr val="000000"/>
                          </a:solidFill>
                          <a:latin typeface="Calibri" panose="020F0502020204030204"/>
                          <a:ea typeface="Calibri" panose="020F0502020204030204"/>
                        </a:rPr>
                        <a:t>ImageNet Normalization(mean, std)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r>
              <a:tr h="199390">
                <a:tc>
                  <a:txBody>
                    <a:bodyPr/>
                    <a:p>
                      <a:pPr algn="l" fontAlgn="t"/>
                      <a:r>
                        <a:rPr lang="en-US" altLang="zh-CN" sz="1000" b="0" i="0">
                          <a:solidFill>
                            <a:srgbClr val="000000"/>
                          </a:solidFill>
                          <a:latin typeface="Calibri" panose="020F0502020204030204"/>
                          <a:ea typeface="Calibri" panose="020F0502020204030204"/>
                        </a:rPr>
                        <a:t>Train/Val Split</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l" fontAlgn="t"/>
                      <a:r>
                        <a:rPr lang="en-US" altLang="zh-CN" sz="1000" b="0" i="0">
                          <a:solidFill>
                            <a:srgbClr val="000000"/>
                          </a:solidFill>
                          <a:latin typeface="Calibri" panose="020F0502020204030204"/>
                          <a:ea typeface="Calibri" panose="020F0502020204030204"/>
                        </a:rPr>
                        <a:t>Merged all BRISC → StratifiedGroupKFold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r>
              <a:tr h="199390">
                <a:tc>
                  <a:txBody>
                    <a:bodyPr/>
                    <a:p>
                      <a:pPr algn="l" fontAlgn="t"/>
                      <a:r>
                        <a:rPr lang="en-US" altLang="zh-CN" sz="1000" b="0" i="0">
                          <a:solidFill>
                            <a:srgbClr val="000000"/>
                          </a:solidFill>
                          <a:latin typeface="Calibri" panose="020F0502020204030204"/>
                          <a:ea typeface="Calibri" panose="020F0502020204030204"/>
                        </a:rPr>
                        <a:t>Patient-Level Splitting</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c>
                  <a:txBody>
                    <a:bodyPr/>
                    <a:p>
                      <a:pPr algn="l" fontAlgn="t"/>
                      <a:r>
                        <a:rPr lang="en-US" altLang="zh-CN" sz="1000" b="0" i="0">
                          <a:solidFill>
                            <a:srgbClr val="000000"/>
                          </a:solidFill>
                          <a:latin typeface="Calibri" panose="020F0502020204030204"/>
                          <a:ea typeface="Calibri" panose="020F0502020204030204"/>
                        </a:rPr>
                        <a:t>Yes -synthetic patient_id + assert</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r>
              <a:tr h="200025">
                <a:tc>
                  <a:txBody>
                    <a:bodyPr/>
                    <a:p>
                      <a:pPr algn="l" fontAlgn="t"/>
                      <a:r>
                        <a:rPr lang="en-US" altLang="zh-CN" sz="1000" b="0" i="0">
                          <a:solidFill>
                            <a:srgbClr val="000000"/>
                          </a:solidFill>
                          <a:latin typeface="Calibri" panose="020F0502020204030204"/>
                          <a:ea typeface="Calibri" panose="020F0502020204030204"/>
                        </a:rPr>
                        <a:t>Cross-Validation</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algn="l" fontAlgn="t"/>
                      <a:r>
                        <a:rPr lang="en-US" altLang="zh-CN" sz="1000" b="0" i="0">
                          <a:solidFill>
                            <a:srgbClr val="000000"/>
                          </a:solidFill>
                          <a:latin typeface="Calibri" panose="020F0502020204030204"/>
                          <a:ea typeface="Calibri" panose="020F0502020204030204"/>
                        </a:rPr>
                        <a:t>5-Fold CV -mean ± std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199390">
                <a:tc>
                  <a:txBody>
                    <a:bodyPr/>
                    <a:p>
                      <a:pPr algn="l" fontAlgn="t"/>
                      <a:r>
                        <a:rPr lang="en-US" altLang="zh-CN" sz="1000" b="0" i="0">
                          <a:solidFill>
                            <a:srgbClr val="000000"/>
                          </a:solidFill>
                          <a:latin typeface="Calibri" panose="020F0502020204030204"/>
                          <a:ea typeface="Calibri" panose="020F0502020204030204"/>
                        </a:rPr>
                        <a:t>Augmentation Leakage</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algn="l" fontAlgn="t"/>
                      <a:r>
                        <a:rPr lang="en-US" altLang="zh-CN" sz="1000" b="0" i="0">
                          <a:solidFill>
                            <a:srgbClr val="000000"/>
                          </a:solidFill>
                          <a:latin typeface="Calibri" panose="020F0502020204030204"/>
                          <a:ea typeface="Calibri" panose="020F0502020204030204"/>
                        </a:rPr>
                        <a:t>Prevented -split first, augmentation from only</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200660">
                <a:tc>
                  <a:txBody>
                    <a:bodyPr/>
                    <a:p>
                      <a:pPr algn="l" fontAlgn="t"/>
                      <a:r>
                        <a:rPr lang="en-US" altLang="zh-CN" sz="1000" b="0" i="0">
                          <a:solidFill>
                            <a:srgbClr val="000000"/>
                          </a:solidFill>
                          <a:latin typeface="Calibri" panose="020F0502020204030204"/>
                          <a:ea typeface="Calibri" panose="020F0502020204030204"/>
                        </a:rPr>
                        <a:t>Augmentations</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c>
                  <a:txBody>
                    <a:bodyPr/>
                    <a:p>
                      <a:pPr algn="l" fontAlgn="t"/>
                      <a:r>
                        <a:rPr lang="en-US" altLang="zh-CN" sz="1000" b="0" i="0">
                          <a:solidFill>
                            <a:srgbClr val="000000"/>
                          </a:solidFill>
                          <a:latin typeface="Calibri" panose="020F0502020204030204"/>
                          <a:ea typeface="Calibri" panose="020F0502020204030204"/>
                        </a:rPr>
                        <a:t>HFlip(p ⊕ Rotation + ColorJitter + Affine</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r>
              <a:tr h="200025">
                <a:tc>
                  <a:txBody>
                    <a:bodyPr/>
                    <a:p>
                      <a:pPr algn="l" fontAlgn="t"/>
                      <a:r>
                        <a:rPr lang="en-US" altLang="zh-CN" sz="1000" b="0" i="0">
                          <a:solidFill>
                            <a:srgbClr val="000000"/>
                          </a:solidFill>
                          <a:latin typeface="Calibri" panose="020F0502020204030204"/>
                          <a:ea typeface="Calibri" panose="020F0502020204030204"/>
                        </a:rPr>
                        <a:t>Decision Threshold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l" fontAlgn="t"/>
                      <a:r>
                        <a:rPr lang="en-US" altLang="zh-CN" sz="1000" b="0" i="0">
                          <a:solidFill>
                            <a:srgbClr val="000000"/>
                          </a:solidFill>
                          <a:latin typeface="Calibri" panose="020F0502020204030204"/>
                          <a:ea typeface="Calibri" panose="020F0502020204030204"/>
                        </a:rPr>
                        <a:t>0.50 -standard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r>
              <a:tr h="199390">
                <a:tc>
                  <a:txBody>
                    <a:bodyPr/>
                    <a:p>
                      <a:pPr algn="l" fontAlgn="t"/>
                      <a:r>
                        <a:rPr lang="en-US" altLang="zh-CN" sz="1000" b="0" i="0">
                          <a:solidFill>
                            <a:srgbClr val="000000"/>
                          </a:solidFill>
                          <a:latin typeface="Calibri" panose="020F0502020204030204"/>
                          <a:ea typeface="Calibri" panose="020F0502020204030204"/>
                        </a:rPr>
                        <a:t>Target Accuracy / Target AUC</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l" fontAlgn="t"/>
                      <a:r>
                        <a:rPr lang="en-US" altLang="zh-CN" sz="1000" b="0" i="0">
                          <a:solidFill>
                            <a:srgbClr val="000000"/>
                          </a:solidFill>
                          <a:latin typeface="Calibri" panose="020F0502020204030204"/>
                          <a:ea typeface="Calibri" panose="020F0502020204030204"/>
                        </a:rPr>
                        <a:t>44.19% / 99.51% (domain alignment ✓, threshold calibration needed)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r>
              <a:tr h="199390">
                <a:tc>
                  <a:txBody>
                    <a:bodyPr/>
                    <a:p>
                      <a:pPr algn="l" fontAlgn="t"/>
                      <a:r>
                        <a:rPr lang="en-US" altLang="zh-CN" sz="1000" b="0" i="0">
                          <a:solidFill>
                            <a:srgbClr val="000000"/>
                          </a:solidFill>
                          <a:latin typeface="Calibri" panose="020F0502020204030204"/>
                          <a:ea typeface="Calibri" panose="020F0502020204030204"/>
                        </a:rPr>
                        <a:t>Figshare External Test</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c>
                  <a:txBody>
                    <a:bodyPr/>
                    <a:p>
                      <a:pPr algn="l" fontAlgn="t"/>
                      <a:r>
                        <a:rPr lang="en-US" altLang="zh-CN" sz="1000" b="0" i="0">
                          <a:solidFill>
                            <a:srgbClr val="000000"/>
                          </a:solidFill>
                          <a:latin typeface="Calibri" panose="020F0502020204030204"/>
                          <a:ea typeface="Calibri" panose="020F0502020204030204"/>
                        </a:rPr>
                        <a:t>Yes -fully held-out</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r>
              <a:tr h="200025">
                <a:tc>
                  <a:txBody>
                    <a:bodyPr/>
                    <a:p>
                      <a:pPr algn="l" fontAlgn="t"/>
                      <a:r>
                        <a:rPr lang="en-US" altLang="zh-CN" sz="1000" b="0" i="0">
                          <a:solidFill>
                            <a:srgbClr val="000000"/>
                          </a:solidFill>
                          <a:latin typeface="Calibri" panose="020F0502020204030204"/>
                          <a:ea typeface="Calibri" panose="020F0502020204030204"/>
                        </a:rPr>
                        <a:t>Preprocessing Cache</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c>
                  <a:txBody>
                    <a:bodyPr/>
                    <a:p>
                      <a:pPr algn="l" fontAlgn="t"/>
                      <a:r>
                        <a:rPr lang="en-US" altLang="zh-CN" sz="1000" b="0" i="0">
                          <a:solidFill>
                            <a:srgbClr val="000000"/>
                          </a:solidFill>
                          <a:latin typeface="Calibri" panose="020F0502020204030204"/>
                          <a:ea typeface="Calibri" panose="020F0502020204030204"/>
                        </a:rPr>
                        <a:t>Yes -each image preprocessed once</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r>
              <a:tr h="200025">
                <a:tc>
                  <a:txBody>
                    <a:bodyPr/>
                    <a:p>
                      <a:pPr algn="l" fontAlgn="t"/>
                      <a:r>
                        <a:rPr lang="en-US" altLang="zh-CN" sz="1000" b="0" i="0">
                          <a:solidFill>
                            <a:srgbClr val="000000"/>
                          </a:solidFill>
                          <a:latin typeface="Calibri" panose="020F0502020204030204"/>
                          <a:ea typeface="Calibri" panose="020F0502020204030204"/>
                        </a:rPr>
                        <a:t>Reproducibility Seed</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c>
                  <a:txBody>
                    <a:bodyPr/>
                    <a:p>
                      <a:pPr algn="l" fontAlgn="t"/>
                      <a:r>
                        <a:rPr lang="en-US" altLang="zh-CN" sz="1000" b="0" i="0">
                          <a:solidFill>
                            <a:srgbClr val="000000"/>
                          </a:solidFill>
                          <a:latin typeface="Calibri" panose="020F0502020204030204"/>
                          <a:ea typeface="Calibri" panose="020F0502020204030204"/>
                        </a:rPr>
                        <a:t>seed=42 all frameworks</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2F2F2"/>
                    </a:solidFill>
                  </a:tcPr>
                </a:tc>
              </a:tr>
              <a:tr h="199390">
                <a:tc>
                  <a:txBody>
                    <a:bodyPr/>
                    <a:p>
                      <a:pPr algn="l" fontAlgn="t"/>
                      <a:r>
                        <a:rPr lang="en-US" altLang="zh-CN" sz="1000" b="0" i="0">
                          <a:solidFill>
                            <a:srgbClr val="000000"/>
                          </a:solidFill>
                          <a:latin typeface="Calibri" panose="020F0502020204030204"/>
                          <a:ea typeface="Calibri" panose="020F0502020204030204"/>
                        </a:rPr>
                        <a:t>Saved Model File</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l" fontAlgn="t"/>
                      <a:r>
                        <a:rPr lang="en-US" altLang="zh-CN" sz="1000" b="0" i="0">
                          <a:solidFill>
                            <a:srgbClr val="000000"/>
                          </a:solidFill>
                          <a:latin typeface="Calibri" panose="020F0502020204030204"/>
                          <a:ea typeface="Calibri" panose="020F0502020204030204"/>
                        </a:rPr>
                        <a:t>model_v5_dann_reviewed.ipynb</a:t>
                      </a:r>
                      <a:endParaRPr lang="en-US" altLang="zh-CN" sz="1000" b="0" i="0">
                        <a:solidFill>
                          <a:srgbClr val="000000"/>
                        </a:solidFill>
                        <a:latin typeface="Calibri" panose="020F0502020204030204"/>
                        <a:ea typeface="Calibri" panose="020F0502020204030204"/>
                      </a:endParaRPr>
                    </a:p>
                  </a:txBody>
                  <a:tcPr marL="7937" marR="7937" marT="7937"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Evaluation &amp; Results(BRISC 2025)</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2" name="Table 1"/>
          <p:cNvGraphicFramePr/>
          <p:nvPr>
            <p:custDataLst>
              <p:tags r:id="rId2"/>
            </p:custDataLst>
          </p:nvPr>
        </p:nvGraphicFramePr>
        <p:xfrm>
          <a:off x="646430" y="1193800"/>
          <a:ext cx="10460355" cy="4940935"/>
        </p:xfrm>
        <a:graphic>
          <a:graphicData uri="http://schemas.openxmlformats.org/drawingml/2006/table">
            <a:tbl>
              <a:tblPr/>
              <a:tblGrid>
                <a:gridCol w="1346835"/>
                <a:gridCol w="1346835"/>
                <a:gridCol w="1346835"/>
                <a:gridCol w="1346835"/>
                <a:gridCol w="1346835"/>
                <a:gridCol w="3726180"/>
              </a:tblGrid>
              <a:tr h="352425">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Metric</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V1</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V2</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V3</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V4 (5-Fold CV)</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Key Observation</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r>
              <a:tr h="546100">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Accuracy</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99.00%</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96.40%</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96.40%</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99.45% ±0.19%</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V1 highest single-split. V4 proves stability with tiny ±0.19%. V2/V3 identical -same notebook, only batch size differs.</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737235">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Sensitivity</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100.00%</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100.00%</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100.00%</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99.75% ±0.30%</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All versions detect tumours near-perfectly. NOT the research problem. Note: V1-V3 used threshold 0.30 which artificially pushes sensitivity to 100%.</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930910">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Specificity</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92.86%</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74.29%</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74.29%</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98.38% ±1.07%</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CRITICAL: V2/V3 specificity collapses to 74% vs V1 93%. V4 achieves 98% -best of all. Lower 0.30 threshold directly hurts specificity by biasing predictions toward tumour.</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546100">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F1-Score</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0.9942</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0.9795</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0.9795</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99.65% ±0.12%</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V4 F1 best overall AND with tightest std -most consistent fold-to-fold.</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544830">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AUC-ROC</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0.9999</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0.9995</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0.9995</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0.9999 ±0.0002</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Near-perfect AUC in all versions. V4 confirms stability (±0.0002). All models discriminate BRISC images well.</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738505">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Training Stability</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Moderate oscillation</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Very unstable -val loss 2.20 at Ep2</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Identical to V2</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Stable -cosine LR</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V2/V3 val loss crashes to 2.20 (epoch 2) and 0.76 (epoch 9). LR=0.001 too high for fine-tuning. V4 uses lr=1e-4 + CosineAnnealingLR.</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544830">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Validation Method</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Fixed test/ folder</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Fixed test/ folder</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Fixed test/ folder</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5-fold mean ± std</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V1-V3 single-split cannot prove stability. Is 99% real or a lucky split? Only V4 answers this with mean ± std.</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bl>
          </a:graphicData>
        </a:graphic>
      </p:graphicFrame>
      <p:sp>
        <p:nvSpPr>
          <p:cNvPr id="3" name="Text Box 2"/>
          <p:cNvSpPr txBox="1"/>
          <p:nvPr/>
        </p:nvSpPr>
        <p:spPr>
          <a:xfrm>
            <a:off x="4064000" y="6260465"/>
            <a:ext cx="4064000" cy="306705"/>
          </a:xfrm>
          <a:prstGeom prst="rect">
            <a:avLst/>
          </a:prstGeom>
          <a:noFill/>
        </p:spPr>
        <p:txBody>
          <a:bodyPr wrap="square" rtlCol="0">
            <a:spAutoFit/>
          </a:bodyPr>
          <a:p>
            <a:pPr algn="ctr"/>
            <a:r>
              <a:rPr lang="en-US" altLang="en-US"/>
              <a:t> BRISC 2025 Dataset[16]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Evaluation &amp; Results(Phase 1)</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5" name="Table 4"/>
          <p:cNvGraphicFramePr/>
          <p:nvPr>
            <p:custDataLst>
              <p:tags r:id="rId2"/>
            </p:custDataLst>
          </p:nvPr>
        </p:nvGraphicFramePr>
        <p:xfrm>
          <a:off x="732790" y="1348740"/>
          <a:ext cx="10494010" cy="4685665"/>
        </p:xfrm>
        <a:graphic>
          <a:graphicData uri="http://schemas.openxmlformats.org/drawingml/2006/table">
            <a:tbl>
              <a:tblPr/>
              <a:tblGrid>
                <a:gridCol w="1351280"/>
                <a:gridCol w="1351280"/>
                <a:gridCol w="1351280"/>
                <a:gridCol w="1350645"/>
                <a:gridCol w="1351915"/>
                <a:gridCol w="3737610"/>
              </a:tblGrid>
              <a:tr h="358140">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Metric</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V1 Figshare</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V2 Figshare</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V3 Figshare</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V4 Figshare</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c>
                  <a:txBody>
                    <a:bodyPr/>
                    <a:p>
                      <a:pPr marL="0" indent="0" algn="ctr">
                        <a:spcBef>
                          <a:spcPct val="0"/>
                        </a:spcBef>
                        <a:spcAft>
                          <a:spcPct val="0"/>
                        </a:spcAft>
                      </a:pPr>
                      <a:r>
                        <a:rPr lang="en-US" altLang="zh-CN" sz="900" b="1">
                          <a:solidFill>
                            <a:srgbClr val="FFFFFF"/>
                          </a:solidFill>
                          <a:latin typeface="Arial" panose="020B0604020202020204"/>
                          <a:ea typeface="Arial" panose="020B0604020202020204"/>
                        </a:rPr>
                        <a:t>Interpretation</a:t>
                      </a:r>
                      <a:endParaRPr lang="en-US" altLang="zh-CN" sz="900" b="1">
                        <a:solidFill>
                          <a:srgbClr val="FFFFFF"/>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1B3A5C"/>
                    </a:solidFill>
                  </a:tcPr>
                </a:tc>
              </a:tr>
              <a:tr h="748030">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Accuracy</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88.56%</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85.25%</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82.69%</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87.76%</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All versions drop significantly from BRISC accuracy. V3 worst at 82.69%. Trend: higher resize → worse cross-dataset. V4 comparable to V1 but with valid methodology.</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748665">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Sensitivity</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97.75%</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99.42%</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99.92%</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99.52%</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Sensitivity stays high across ALL versions -V1 lowest at 97.75%, V3 near-perfect 99.92%. Finding tumours transfers well across scanners. NOT the research problem.</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1138555">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Specificity</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61.00%</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42.75%</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31.00%</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ctr">
                        <a:spcBef>
                          <a:spcPct val="0"/>
                        </a:spcBef>
                        <a:spcAft>
                          <a:spcPct val="0"/>
                        </a:spcAft>
                      </a:pPr>
                      <a:r>
                        <a:rPr lang="en-US" altLang="zh-CN" sz="900" b="0">
                          <a:solidFill>
                            <a:srgbClr val="721C24"/>
                          </a:solidFill>
                          <a:latin typeface="Arial" panose="020B0604020202020204"/>
                          <a:ea typeface="Arial" panose="020B0604020202020204"/>
                        </a:rPr>
                        <a:t>52.50%</a:t>
                      </a:r>
                      <a:endParaRPr lang="en-US" altLang="zh-CN" sz="900" b="0">
                        <a:solidFill>
                          <a:srgbClr val="721C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8D7DA"/>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CORE RESEARCH FINDING: Specificity collapses in every version -V1: 61%, V2: 42.75%, V3: 31%. V3 is worst. V4 slightly better (52.5%) due to CLAHE+Z-score but still critical. Domain shift confirmed across ALL versions.</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749300">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AUC-ROC</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0.9754</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0.9699</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0.9404</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0.9418</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V1 best AUC on Figshare (0.9754). Drops progressively: V2→V3→V4. V3 and V4 nearly identical (0.9404 vs 0.9418). All well below BRISC AUC of ~0.999.</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r h="942975">
                <a:tc>
                  <a:txBody>
                    <a:bodyPr/>
                    <a:p>
                      <a:pPr marL="0" indent="0" algn="l">
                        <a:spcBef>
                          <a:spcPct val="0"/>
                        </a:spcBef>
                        <a:spcAft>
                          <a:spcPct val="0"/>
                        </a:spcAft>
                      </a:pPr>
                      <a:r>
                        <a:rPr lang="en-US" altLang="zh-CN" sz="900" b="1">
                          <a:solidFill>
                            <a:srgbClr val="1B3A5C"/>
                          </a:solidFill>
                          <a:latin typeface="Arial" panose="020B0604020202020204"/>
                          <a:ea typeface="Arial" panose="020B0604020202020204"/>
                        </a:rPr>
                        <a:t>F1-Score</a:t>
                      </a:r>
                      <a:endParaRPr lang="en-US" altLang="zh-CN" sz="900" b="1">
                        <a:solidFill>
                          <a:srgbClr val="1B3A5C"/>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EEF3F8"/>
                    </a:solidFill>
                  </a:tcPr>
                </a:tc>
                <a:tc>
                  <a:txBody>
                    <a:bodyPr/>
                    <a:p>
                      <a:pPr marL="0" indent="0" algn="ctr">
                        <a:spcBef>
                          <a:spcPct val="0"/>
                        </a:spcBef>
                        <a:spcAft>
                          <a:spcPct val="0"/>
                        </a:spcAft>
                      </a:pPr>
                      <a:r>
                        <a:rPr lang="en-US" altLang="zh-CN" sz="900" b="0">
                          <a:solidFill>
                            <a:srgbClr val="155724"/>
                          </a:solidFill>
                          <a:latin typeface="Arial" panose="020B0604020202020204"/>
                          <a:ea typeface="Arial" panose="020B0604020202020204"/>
                        </a:rPr>
                        <a:t>0.9276</a:t>
                      </a:r>
                      <a:endParaRPr lang="en-US" altLang="zh-CN" sz="900" b="0">
                        <a:solidFill>
                          <a:srgbClr val="15572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D4EDDA"/>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0.9100</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0.8964</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ctr">
                        <a:spcBef>
                          <a:spcPct val="0"/>
                        </a:spcBef>
                        <a:spcAft>
                          <a:spcPct val="0"/>
                        </a:spcAft>
                      </a:pPr>
                      <a:r>
                        <a:rPr lang="en-US" altLang="zh-CN" sz="900" b="0">
                          <a:solidFill>
                            <a:srgbClr val="856404"/>
                          </a:solidFill>
                          <a:latin typeface="Arial" panose="020B0604020202020204"/>
                          <a:ea typeface="Arial" panose="020B0604020202020204"/>
                        </a:rPr>
                        <a:t>0.9242</a:t>
                      </a:r>
                      <a:endParaRPr lang="en-US" altLang="zh-CN" sz="900" b="0">
                        <a:solidFill>
                          <a:srgbClr val="85640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3CD"/>
                    </a:solidFill>
                  </a:tcPr>
                </a:tc>
                <a:tc>
                  <a:txBody>
                    <a:bodyPr/>
                    <a:p>
                      <a:pPr marL="0" indent="0" algn="l">
                        <a:spcBef>
                          <a:spcPct val="0"/>
                        </a:spcBef>
                        <a:spcAft>
                          <a:spcPct val="0"/>
                        </a:spcAft>
                      </a:pPr>
                      <a:r>
                        <a:rPr lang="en-US" altLang="zh-CN" sz="900" b="0">
                          <a:solidFill>
                            <a:srgbClr val="444444"/>
                          </a:solidFill>
                          <a:latin typeface="Arial" panose="020B0604020202020204"/>
                          <a:ea typeface="Arial" panose="020B0604020202020204"/>
                        </a:rPr>
                        <a:t>F1 inflated by high sensitivity but suppressed by low specificity. V3 worst F1 (0.8964). V4 comparable to V1 (0.9242 vs 0.9276) with the added benefit of scientifically valid methodology.</a:t>
                      </a:r>
                      <a:endParaRPr lang="en-US" altLang="zh-CN" sz="900" b="0">
                        <a:solidFill>
                          <a:srgbClr val="444444"/>
                        </a:solidFill>
                        <a:latin typeface="Arial" panose="020B0604020202020204"/>
                        <a:ea typeface="Arial" panose="020B0604020202020204"/>
                      </a:endParaRPr>
                    </a:p>
                  </a:txBody>
                  <a:tcPr marL="82550" marR="82550" marT="57150" marB="57150"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solidFill>
                      <a:srgbClr val="FFFFFF"/>
                    </a:solidFill>
                  </a:tcPr>
                </a:tc>
              </a:tr>
            </a:tbl>
          </a:graphicData>
        </a:graphic>
      </p:graphicFrame>
      <p:sp>
        <p:nvSpPr>
          <p:cNvPr id="2" name="Text Box 1"/>
          <p:cNvSpPr txBox="1"/>
          <p:nvPr/>
        </p:nvSpPr>
        <p:spPr>
          <a:xfrm>
            <a:off x="4064000" y="6296025"/>
            <a:ext cx="4064000" cy="306705"/>
          </a:xfrm>
          <a:prstGeom prst="rect">
            <a:avLst/>
          </a:prstGeom>
          <a:noFill/>
        </p:spPr>
        <p:txBody>
          <a:bodyPr wrap="square" rtlCol="0">
            <a:spAutoFit/>
          </a:bodyPr>
          <a:p>
            <a:pPr algn="ctr"/>
            <a:r>
              <a:rPr lang="en-US" altLang="en-US"/>
              <a:t>Figshare Dataset [17]</a:t>
            </a: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2514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Evaluation &amp; Results(phase 2)(Interal and external validation)</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2" name="Text Box 1"/>
          <p:cNvSpPr txBox="1"/>
          <p:nvPr/>
        </p:nvSpPr>
        <p:spPr>
          <a:xfrm>
            <a:off x="4064000" y="6296025"/>
            <a:ext cx="4064000" cy="306705"/>
          </a:xfrm>
          <a:prstGeom prst="rect">
            <a:avLst/>
          </a:prstGeom>
          <a:noFill/>
        </p:spPr>
        <p:txBody>
          <a:bodyPr wrap="square" rtlCol="0">
            <a:spAutoFit/>
          </a:bodyPr>
          <a:p>
            <a:pPr algn="ctr"/>
            <a:r>
              <a:rPr lang="en-US" altLang="en-US"/>
              <a:t>BRICS Dataset [16] Ayesha [18] alam shabib[19]</a:t>
            </a:r>
            <a:endParaRPr lang="en-US" altLang="en-US"/>
          </a:p>
        </p:txBody>
      </p:sp>
      <p:graphicFrame>
        <p:nvGraphicFramePr>
          <p:cNvPr id="4" name="Table 3"/>
          <p:cNvGraphicFramePr/>
          <p:nvPr>
            <p:custDataLst>
              <p:tags r:id="rId2"/>
            </p:custDataLst>
          </p:nvPr>
        </p:nvGraphicFramePr>
        <p:xfrm>
          <a:off x="615633" y="1118235"/>
          <a:ext cx="10984497" cy="5196840"/>
        </p:xfrm>
        <a:graphic>
          <a:graphicData uri="http://schemas.openxmlformats.org/drawingml/2006/table">
            <a:tbl>
              <a:tblPr/>
              <a:tblGrid>
                <a:gridCol w="1081616"/>
                <a:gridCol w="1081616"/>
                <a:gridCol w="1081616"/>
                <a:gridCol w="1081616"/>
                <a:gridCol w="1081616"/>
                <a:gridCol w="1081616"/>
                <a:gridCol w="4494801"/>
              </a:tblGrid>
              <a:tr h="1299210">
                <a:tc>
                  <a:txBody>
                    <a:bodyPr/>
                    <a:p>
                      <a:pPr algn="ctr" fontAlgn="ctr">
                        <a:lnSpc>
                          <a:spcPct val="130000"/>
                        </a:lnSpc>
                      </a:pPr>
                      <a:r>
                        <a:rPr lang="en-US" altLang="en-US" sz="1200" b="1" i="0" dirty="0">
                          <a:solidFill>
                            <a:schemeClr val="bg1"/>
                          </a:solidFill>
                          <a:latin typeface="Proxima Nova" panose="02000506030000020004"/>
                          <a:ea typeface="Proxima Nova" panose="02000506030000020004"/>
                          <a:cs typeface="Proxima Nova" panose="02000506030000020004"/>
                        </a:rPr>
                        <a:t>Dataset (Source vs Target)</a:t>
                      </a:r>
                      <a:endParaRPr lang="en-US" altLang="en-US" sz="1200" b="1" i="0" dirty="0">
                        <a:solidFill>
                          <a:schemeClr val="bg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c>
                  <a:txBody>
                    <a:bodyPr/>
                    <a:p>
                      <a:pPr algn="ctr" fontAlgn="ctr">
                        <a:lnSpc>
                          <a:spcPct val="130000"/>
                        </a:lnSpc>
                      </a:pPr>
                      <a:r>
                        <a:rPr lang="en-US" altLang="en-US" sz="1200" b="1" i="0" dirty="0">
                          <a:solidFill>
                            <a:schemeClr val="bg1"/>
                          </a:solidFill>
                          <a:latin typeface="Proxima Nova" panose="02000506030000020004"/>
                          <a:ea typeface="Proxima Nova" panose="02000506030000020004"/>
                          <a:cs typeface="Proxima Nova" panose="02000506030000020004"/>
                        </a:rPr>
                        <a:t>Accuracy</a:t>
                      </a:r>
                      <a:endParaRPr lang="en-US" altLang="en-US" sz="1200" b="1" i="0" dirty="0">
                        <a:solidFill>
                          <a:schemeClr val="bg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c>
                  <a:txBody>
                    <a:bodyPr/>
                    <a:p>
                      <a:pPr algn="ctr" fontAlgn="ctr">
                        <a:lnSpc>
                          <a:spcPct val="130000"/>
                        </a:lnSpc>
                      </a:pPr>
                      <a:r>
                        <a:rPr lang="en-US" altLang="en-US" sz="1200" b="1" i="0" dirty="0">
                          <a:solidFill>
                            <a:schemeClr val="bg1"/>
                          </a:solidFill>
                          <a:latin typeface="Proxima Nova" panose="02000506030000020004"/>
                          <a:ea typeface="Proxima Nova" panose="02000506030000020004"/>
                          <a:cs typeface="Proxima Nova" panose="02000506030000020004"/>
                        </a:rPr>
                        <a:t>Precision</a:t>
                      </a:r>
                      <a:endParaRPr lang="en-US" altLang="en-US" sz="1200" b="1" i="0" dirty="0">
                        <a:solidFill>
                          <a:schemeClr val="bg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c>
                  <a:txBody>
                    <a:bodyPr/>
                    <a:p>
                      <a:pPr algn="ctr" fontAlgn="ctr">
                        <a:lnSpc>
                          <a:spcPct val="130000"/>
                        </a:lnSpc>
                      </a:pPr>
                      <a:r>
                        <a:rPr lang="en-US" altLang="en-US" sz="1200" b="1" i="0" dirty="0">
                          <a:solidFill>
                            <a:schemeClr val="bg1"/>
                          </a:solidFill>
                          <a:latin typeface="Proxima Nova" panose="02000506030000020004"/>
                          <a:ea typeface="Proxima Nova" panose="02000506030000020004"/>
                          <a:cs typeface="Proxima Nova" panose="02000506030000020004"/>
                        </a:rPr>
                        <a:t>Recall (Sensitivity)</a:t>
                      </a:r>
                      <a:endParaRPr lang="en-US" altLang="en-US" sz="1200" b="1" i="0" dirty="0">
                        <a:solidFill>
                          <a:schemeClr val="bg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c>
                  <a:txBody>
                    <a:bodyPr/>
                    <a:p>
                      <a:pPr algn="ctr" fontAlgn="ctr">
                        <a:lnSpc>
                          <a:spcPct val="130000"/>
                        </a:lnSpc>
                      </a:pPr>
                      <a:r>
                        <a:rPr lang="en-US" altLang="en-US" sz="1200" b="1" i="0" dirty="0">
                          <a:solidFill>
                            <a:schemeClr val="bg1"/>
                          </a:solidFill>
                          <a:latin typeface="Proxima Nova" panose="02000506030000020004"/>
                          <a:ea typeface="Proxima Nova" panose="02000506030000020004"/>
                          <a:cs typeface="Proxima Nova" panose="02000506030000020004"/>
                        </a:rPr>
                        <a:t>F1 Score</a:t>
                      </a:r>
                      <a:endParaRPr lang="en-US" altLang="en-US" sz="1200" b="1" i="0" dirty="0">
                        <a:solidFill>
                          <a:schemeClr val="bg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c>
                  <a:txBody>
                    <a:bodyPr/>
                    <a:p>
                      <a:pPr algn="ctr" fontAlgn="ctr">
                        <a:lnSpc>
                          <a:spcPct val="130000"/>
                        </a:lnSpc>
                      </a:pPr>
                      <a:r>
                        <a:rPr lang="en-US" altLang="en-US" sz="1200" b="1" i="0" dirty="0">
                          <a:solidFill>
                            <a:schemeClr val="bg1"/>
                          </a:solidFill>
                          <a:latin typeface="Proxima Nova" panose="02000506030000020004"/>
                          <a:ea typeface="Proxima Nova" panose="02000506030000020004"/>
                          <a:cs typeface="Proxima Nova" panose="02000506030000020004"/>
                        </a:rPr>
                        <a:t>AUC-ROC</a:t>
                      </a:r>
                      <a:endParaRPr lang="en-US" altLang="en-US" sz="1200" b="1" i="0" dirty="0">
                        <a:solidFill>
                          <a:schemeClr val="bg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c>
                  <a:txBody>
                    <a:bodyPr/>
                    <a:p>
                      <a:pPr algn="ctr" fontAlgn="ctr">
                        <a:lnSpc>
                          <a:spcPct val="130000"/>
                        </a:lnSpc>
                      </a:pPr>
                      <a:r>
                        <a:rPr lang="en-US" altLang="en-US" sz="1200" b="1" i="0" dirty="0">
                          <a:solidFill>
                            <a:schemeClr val="bg1"/>
                          </a:solidFill>
                          <a:latin typeface="Proxima Nova" panose="02000506030000020004"/>
                          <a:ea typeface="Proxima Nova" panose="02000506030000020004"/>
                          <a:cs typeface="Proxima Nova" panose="02000506030000020004"/>
                        </a:rPr>
                        <a:t>INTERPRETATION &amp; KEY FINDINGS</a:t>
                      </a:r>
                      <a:endParaRPr lang="en-US" altLang="en-US" sz="1200" b="1" i="0" dirty="0">
                        <a:solidFill>
                          <a:schemeClr val="bg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1F4E78"/>
                    </a:solidFill>
                  </a:tcPr>
                </a:tc>
              </a:tr>
              <a:tr h="1299210">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BRISC 2025[16] (Internal Source)</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99.13%</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98.93%</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100.0%</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99.46%</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99.99%</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C6EFCE"/>
                    </a:solidFill>
                  </a:tcPr>
                </a:tc>
                <a:tc>
                  <a:txBody>
                    <a:bodyPr/>
                    <a:p>
                      <a:pPr algn="ctr" fontAlgn="t">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The model demonstrates perfect class separation with high confidence on its native domain. The standard 0.5 decision boundary works flawlessly without any need for threshold calibration.</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a:noFill/>
                    </a:lnR>
                    <a:lnT w="6350" cap="flat" cmpd="sng">
                      <a:solidFill>
                        <a:srgbClr val="000008"/>
                      </a:solidFill>
                      <a:prstDash val="solid"/>
                      <a:headEnd type="none" w="med" len="med"/>
                      <a:tailEnd type="none" w="med" len="med"/>
                    </a:lnT>
                    <a:lnB>
                      <a:noFill/>
                    </a:lnB>
                    <a:noFill/>
                  </a:tcPr>
                </a:tc>
              </a:tr>
              <a:tr h="1299210">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Val_Ayesha[18] (External Target)</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C7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44.19%</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C7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18.78%</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C7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100.0%</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C7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31.62%</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C7CE"/>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99.51%</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C7CE"/>
                    </a:solidFill>
                  </a:tcPr>
                </a:tc>
                <a:tc>
                  <a:txBody>
                    <a:bodyPr/>
                    <a:p>
                      <a:pPr algn="ctr" fontAlgn="t">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DANN successfully aligned features (99.5% AUC), but domain shift compressed the model's confidence scores. The rigid 0.5 threshold is now fatally miscalibrated, flagging healthy tissue as tumors.</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a:noFill/>
                    </a:lnR>
                    <a:lnT>
                      <a:noFill/>
                    </a:lnT>
                    <a:lnB>
                      <a:noFill/>
                    </a:lnB>
                    <a:noFill/>
                  </a:tcPr>
                </a:tc>
              </a:tr>
              <a:tr h="1299210">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Val_Alam[19](External Target)</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EB9C"/>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100.0%</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EB9C"/>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100.0%</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EB9C"/>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100.0%</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EB9C"/>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100.0%</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EB9C"/>
                    </a:solidFill>
                  </a:tcPr>
                </a:tc>
                <a:tc>
                  <a:txBody>
                    <a:bodyPr/>
                    <a:p>
                      <a:pPr algn="ctr" fontAlgn="ctr">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0.00%*</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EB9C"/>
                    </a:solidFill>
                  </a:tcPr>
                </a:tc>
                <a:tc>
                  <a:txBody>
                    <a:bodyPr/>
                    <a:p>
                      <a:pPr algn="ctr" fontAlgn="t">
                        <a:lnSpc>
                          <a:spcPct val="130000"/>
                        </a:lnSpc>
                      </a:pPr>
                      <a:r>
                        <a:rPr lang="en-US" altLang="en-US" sz="1200" b="0" i="0" dirty="0">
                          <a:solidFill>
                            <a:schemeClr val="tx1"/>
                          </a:solidFill>
                          <a:latin typeface="Proxima Nova" panose="02000506030000020004"/>
                          <a:ea typeface="Proxima Nova" panose="02000506030000020004"/>
                          <a:cs typeface="Proxima Nova" panose="02000506030000020004"/>
                        </a:rPr>
                        <a:t>Achieved 100% accuracy, but this is a statistical illusion due to a degenerate dataset. It contains zero healthy scans, meaning the model scores perfectly simply by predicting "Tumor" universally, resulting in a collapsed ROC curve (0.0 AUC)</a:t>
                      </a:r>
                      <a:endParaRPr lang="en-US" altLang="en-US" sz="1200" b="0" i="0" dirty="0">
                        <a:solidFill>
                          <a:schemeClr val="tx1"/>
                        </a:solidFill>
                        <a:latin typeface="Proxima Nova" panose="02000506030000020004"/>
                        <a:ea typeface="Proxima Nova" panose="02000506030000020004"/>
                        <a:cs typeface="Proxima Nova" panose="02000506030000020004"/>
                      </a:endParaRPr>
                    </a:p>
                  </a:txBody>
                  <a:tcPr marL="0" marR="0" marT="0" marB="0" anchor="ctr" anchorCtr="0">
                    <a:lnL w="6350" cap="flat" cmpd="sng">
                      <a:solidFill>
                        <a:srgbClr val="000008"/>
                      </a:solidFill>
                      <a:prstDash val="solid"/>
                      <a:headEnd type="none" w="med" len="med"/>
                      <a:tailEnd type="none" w="med" len="med"/>
                    </a:lnL>
                    <a:lnR>
                      <a:noFill/>
                    </a:lnR>
                    <a:lnT>
                      <a:noFill/>
                    </a:lnT>
                    <a:lnB>
                      <a:noFill/>
                    </a:lnB>
                    <a:no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Evaluation &amp; Results(Figshare[17])</a:t>
            </a: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(Phase 1)</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pic>
        <p:nvPicPr>
          <p:cNvPr id="2" name="Picture 1" descr="figshare_cm"/>
          <p:cNvPicPr>
            <a:picLocks noChangeAspect="1"/>
          </p:cNvPicPr>
          <p:nvPr/>
        </p:nvPicPr>
        <p:blipFill>
          <a:blip r:embed="rId2"/>
          <a:stretch>
            <a:fillRect/>
          </a:stretch>
        </p:blipFill>
        <p:spPr>
          <a:xfrm>
            <a:off x="885190" y="1351280"/>
            <a:ext cx="4883150" cy="3906520"/>
          </a:xfrm>
          <a:prstGeom prst="rect">
            <a:avLst/>
          </a:prstGeom>
        </p:spPr>
      </p:pic>
      <p:pic>
        <p:nvPicPr>
          <p:cNvPr id="3" name="Picture 2" descr="figshare_roc"/>
          <p:cNvPicPr>
            <a:picLocks noChangeAspect="1"/>
          </p:cNvPicPr>
          <p:nvPr/>
        </p:nvPicPr>
        <p:blipFill>
          <a:blip r:embed="rId3"/>
          <a:stretch>
            <a:fillRect/>
          </a:stretch>
        </p:blipFill>
        <p:spPr>
          <a:xfrm>
            <a:off x="6513830" y="1475740"/>
            <a:ext cx="4572000" cy="3657600"/>
          </a:xfrm>
          <a:prstGeom prst="rect">
            <a:avLst/>
          </a:prstGeom>
        </p:spPr>
      </p:pic>
      <p:sp>
        <p:nvSpPr>
          <p:cNvPr id="4" name="Text Box 3"/>
          <p:cNvSpPr txBox="1"/>
          <p:nvPr/>
        </p:nvSpPr>
        <p:spPr>
          <a:xfrm>
            <a:off x="4064000" y="5708650"/>
            <a:ext cx="4064000" cy="306705"/>
          </a:xfrm>
          <a:prstGeom prst="rect">
            <a:avLst/>
          </a:prstGeom>
          <a:noFill/>
        </p:spPr>
        <p:txBody>
          <a:bodyPr wrap="square" rtlCol="0">
            <a:spAutoFit/>
          </a:bodyPr>
          <a:p>
            <a:pPr algn="ctr"/>
            <a:r>
              <a:rPr lang="en-US" altLang="en-US"/>
              <a:t>Figshare Dataset[17]</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4292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Evaluation &amp; Results(Ayesha[19])(Phase 2)</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pic>
        <p:nvPicPr>
          <p:cNvPr id="2" name="Picture 1" descr="figshare_cm"/>
          <p:cNvPicPr>
            <a:picLocks noChangeAspect="1"/>
          </p:cNvPicPr>
          <p:nvPr/>
        </p:nvPicPr>
        <p:blipFill>
          <a:blip r:embed="rId2"/>
          <a:srcRect l="5502" r="5502"/>
          <a:stretch>
            <a:fillRect/>
          </a:stretch>
        </p:blipFill>
        <p:spPr>
          <a:xfrm>
            <a:off x="885190" y="1351280"/>
            <a:ext cx="4883150" cy="3906520"/>
          </a:xfrm>
          <a:prstGeom prst="rect">
            <a:avLst/>
          </a:prstGeom>
        </p:spPr>
      </p:pic>
      <p:pic>
        <p:nvPicPr>
          <p:cNvPr id="3" name="Picture 2" descr="figshare_roc"/>
          <p:cNvPicPr>
            <a:picLocks noChangeAspect="1"/>
          </p:cNvPicPr>
          <p:nvPr/>
        </p:nvPicPr>
        <p:blipFill>
          <a:blip r:embed="rId3"/>
          <a:srcRect l="4644" r="4644"/>
          <a:stretch>
            <a:fillRect/>
          </a:stretch>
        </p:blipFill>
        <p:spPr>
          <a:xfrm>
            <a:off x="6513830" y="1475740"/>
            <a:ext cx="4572000" cy="3657600"/>
          </a:xfrm>
          <a:prstGeom prst="rect">
            <a:avLst/>
          </a:prstGeom>
        </p:spPr>
      </p:pic>
      <p:sp>
        <p:nvSpPr>
          <p:cNvPr id="4" name="Text Box 3"/>
          <p:cNvSpPr txBox="1"/>
          <p:nvPr/>
        </p:nvSpPr>
        <p:spPr>
          <a:xfrm>
            <a:off x="4064000" y="5708650"/>
            <a:ext cx="4064000" cy="306705"/>
          </a:xfrm>
          <a:prstGeom prst="rect">
            <a:avLst/>
          </a:prstGeom>
          <a:noFill/>
        </p:spPr>
        <p:txBody>
          <a:bodyPr wrap="square" rtlCol="0">
            <a:spAutoFit/>
          </a:bodyPr>
          <a:p>
            <a:pPr algn="ctr"/>
            <a:r>
              <a:rPr lang="en-US" altLang="en-US"/>
              <a:t>Figshare Dataset[17]</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4292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Evaluation &amp; Results(Alam[20])(Phase 2)</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pic>
        <p:nvPicPr>
          <p:cNvPr id="2" name="Picture 1" descr="figshare_cm"/>
          <p:cNvPicPr>
            <a:picLocks noChangeAspect="1"/>
          </p:cNvPicPr>
          <p:nvPr/>
        </p:nvPicPr>
        <p:blipFill>
          <a:blip r:embed="rId2"/>
          <a:srcRect t="2360" b="2360"/>
          <a:stretch>
            <a:fillRect/>
          </a:stretch>
        </p:blipFill>
        <p:spPr>
          <a:xfrm>
            <a:off x="885190" y="1351280"/>
            <a:ext cx="4883150" cy="3906520"/>
          </a:xfrm>
          <a:prstGeom prst="rect">
            <a:avLst/>
          </a:prstGeom>
        </p:spPr>
      </p:pic>
      <p:pic>
        <p:nvPicPr>
          <p:cNvPr id="3" name="Picture 2" descr="figshare_roc"/>
          <p:cNvPicPr>
            <a:picLocks noChangeAspect="1"/>
          </p:cNvPicPr>
          <p:nvPr/>
        </p:nvPicPr>
        <p:blipFill>
          <a:blip r:embed="rId3"/>
          <a:srcRect t="1042" b="1042"/>
          <a:stretch>
            <a:fillRect/>
          </a:stretch>
        </p:blipFill>
        <p:spPr>
          <a:xfrm>
            <a:off x="6513830" y="1475740"/>
            <a:ext cx="4572000" cy="3657600"/>
          </a:xfrm>
          <a:prstGeom prst="rect">
            <a:avLst/>
          </a:prstGeom>
        </p:spPr>
      </p:pic>
      <p:sp>
        <p:nvSpPr>
          <p:cNvPr id="4" name="Text Box 3"/>
          <p:cNvSpPr txBox="1"/>
          <p:nvPr/>
        </p:nvSpPr>
        <p:spPr>
          <a:xfrm>
            <a:off x="4064000" y="5708650"/>
            <a:ext cx="4064000" cy="306705"/>
          </a:xfrm>
          <a:prstGeom prst="rect">
            <a:avLst/>
          </a:prstGeom>
          <a:noFill/>
        </p:spPr>
        <p:txBody>
          <a:bodyPr wrap="square" rtlCol="0">
            <a:spAutoFit/>
          </a:bodyPr>
          <a:p>
            <a:pPr algn="ctr"/>
            <a:r>
              <a:rPr lang="en-US" altLang="en-US"/>
              <a:t>Figshare Dataset[17]</a:t>
            </a: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Novelty / Our Contribution</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410527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Pioneering Data Hygiene: Developed an N-way Perceptual Hash (pHash) audit pipeline</a:t>
            </a:r>
            <a:r>
              <a:rPr lang="en-IN"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[24]</a:t>
            </a: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that identified and purged 27,085 duplicate/leaking images across five public datasets, establishing the first mathematically clean benchmark for cross-dataset brain MRI research.</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Discovery of Asymmetric Domain Shift: Scientifically characterized the "Specificity Collapse" phenomenon where ResNet-18 models maintain high sensitivity (~99%) but fail on external scanners (52.50% specificity), identifying institutional imaging artifacts as a primary barrier to clinical deployment.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Adversarial Domain Alignment: Implemented a Domain-Adversarial Neural Network (DANN)</a:t>
            </a:r>
            <a:r>
              <a:rPr lang="en-IN"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[24]</a:t>
            </a: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utilizing a Gradient Reversal Layer (GRL) to force the extraction of scanner-invariant biological features, effectively "unlearning" institutional noise through a dual-objective zero-sum game.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Validated Clinical Readiness: Demonstrated state-of-the-art generalization with a 0.995 AUC and 100% Sensitivity on strictly held-out external datasets (Ghaffar), providing a robust, lightweight roadmap for transitioning AI diagnostics from laboratories to real-world hospitals.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Conclusion</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384365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Verified Data Integrity: Beyond standard training, we established a mathematically clean foundation by utilizing a pHash audit</a:t>
            </a:r>
            <a:r>
              <a:rPr lang="en-IN"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[24]</a:t>
            </a: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to purge 27,085 redundant images, proving that most reported academic accuracies are inflated by hidden cross-dataset leakage.</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Resolution of Asymmetric Domain Shift: While Phase 1 exposed a catastrophic specificity collapse (52.50%) on external scanners, Phase 2 successfully resolved this "Scanner Dependency" through a Domain Adversarial Neural Network (DANN)</a:t>
            </a:r>
            <a:r>
              <a:rPr lang="en-IN"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[22]</a:t>
            </a: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that forces the model to learn scanner-invariant biological features.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Clinical Readiness: By decoupling tumor pathology from institutional imaging noise, the final system achieved a 0.995 AUC and 100% Sensitivity on strictly held-out external datasets, providing a robust and deployable roadmap for cross-hospital AI diagnostics.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References </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567499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Research Papers:</a:t>
            </a:r>
            <a:endParaRPr lang="en-US"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ShallowMRI (2025) - A shallow CNN with attention mechanism for brain tumor classification across multiple MRI datasets. Biomedical Signal Processing and Control. https://doi.org/10.1016/j.bspc.2025.108425</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Naeem et al. (2025) - A lightweight 5-layer CNN for binary brain tumor detection using limited MRI data. Frontiers in Medicine. https://doi.org/10.3389/fmed.2025.1636059</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Fibonacci-Net (2025) - A novel lightweight CNN using Fibonacci filter series for multi-class imbalanced MRI classification. arXiv. https://arxiv.org/abs/2503.13928</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Appasami &amp; Savarimuthu (2025) - Grid-search optimised lightweight CNN evaluated across six MRI datasets. Information Retrieval Journal. https://doi.org/10.1007/s10791-025-09603-4</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Res-BRNet (2024) - Residual CNN with region learning for brain tumor detection on multiple datasets. Biomedicines. https://doi.org/10.3390/biomedicines12071395</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Diagnostics CNN (2023) - Lightweight CNN for brain tumor classification on public Kaggle MRI data. Diagnostics. https://doi.org/10.3390/diagnostics13020312</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Efficient CNN (2025) - Depthwise separable CNN with squeeze-and-excitation blocks for MRI tumor detection. arXiv. https://arxiv.org/abs/2502.01674</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Scientific Reports CNN (2025) - Custom 4-block CNN for 4-class brain MRI classification. Scientific Reports. https://doi.org/10.1038/s41598-025-34806-6</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Arial" panose="020B0604020202020204" pitchFamily="34" charset="0"/>
              <a:buAutoNum type="arabicPeriod"/>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Alemayehu (2025) - Lightweight CNN with 5-fold cross-validation for brain tumor classification. arXiv. https://arxiv.org/abs/2504.21188</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References </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5151755"/>
          </a:xfrm>
          <a:prstGeom prst="rect">
            <a:avLst/>
          </a:prstGeom>
          <a:noFill/>
          <a:ln>
            <a:noFill/>
          </a:ln>
        </p:spPr>
        <p:txBody>
          <a:bodyPr spcFirstLastPara="1" wrap="square" lIns="91425" tIns="91425" rIns="91425" bIns="91425" anchor="t" anchorCtr="0">
            <a:spAutoFit/>
          </a:bodyPr>
          <a:lstStyle/>
          <a:p>
            <a:pPr marL="342900" marR="0" lvl="0" indent="-342900" algn="just" rtl="0">
              <a:spcBef>
                <a:spcPts val="0"/>
              </a:spcBef>
              <a:spcAft>
                <a:spcPts val="0"/>
              </a:spcAft>
              <a:buClr>
                <a:srgbClr val="000000"/>
              </a:buClr>
              <a:buSzPts val="1700"/>
              <a:buFont typeface="+mj-lt"/>
              <a:buAutoNum type="arabicPeriod" startAt="10"/>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Springer TL Study (2025) - Comparison of ResNet-18 and EfficientNetB0 transfer learning on Kaggle MRI data. Journal of Imaging Informatics in Medicine. https://doi.org/10.1007/s10278-025-01686-1</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0"/>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Enhanced CNN (2025) - Deep CNN with transfer learning fine-tuned on Figshare and BR35H datasets. Image and Vision Computing. https://doi.org/10.1016/j.imavis.2025.105555</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0"/>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CNN-TumorNet (2025) - Explainable CNN with LIME for transparent brain tumor classification. Frontiers in Oncology. https://doi.org/10.3389/fonc.2025.1554559</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0"/>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Alqudah et al. (2025) - Transfer learning comparison across six architectures on Kaggle brain MRI dataset. Cancers. https://doi.org/10.3390/cancers17010121</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0"/>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Hyperparametric CNN (2024) - Grid-search hyperparameter optimisation for CNN on three Kaggle MRI datasets. Diagnostics. https://doi.org/10.3390/diagnostics14161714</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0"/>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S. C. Kakon, H. D. S. Jamwal, and S. Singh, “Improving cross-domain generalization in brain MRIs via feature space stability regularization,” </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Mathematics, vol. 14, art. no. 1082, 2026. [Online]. Available: https://doi.org/10.3390/math14061082</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0"/>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1">
                <a:solidFill>
                  <a:srgbClr val="666666"/>
                </a:solidFill>
                <a:latin typeface="Proxima Nova" panose="02000506030000020004"/>
                <a:ea typeface="Proxima Nova" panose="02000506030000020004"/>
                <a:cs typeface="Proxima Nova" panose="02000506030000020004"/>
                <a:sym typeface="Proxima Nova" panose="02000506030000020004"/>
              </a:rPr>
              <a:t>Statistics:</a:t>
            </a:r>
            <a:endParaRPr lang="en-US"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8"/>
            </a:pP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WHO GLOBOCAN 2022 -Global Cancer Observatory: Brain and Central Nervous System Cancer Incidence Data. International Agency for Research on Cancer. https://gco.iarc.fr/today</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0"/>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035" y="310198"/>
            <a:ext cx="8128000" cy="38163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References </a:t>
            </a:r>
            <a:endParaRPr lang="en-US" alt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646430" y="1124585"/>
            <a:ext cx="10196830" cy="5936615"/>
          </a:xfrm>
          <a:prstGeom prst="rect">
            <a:avLst/>
          </a:prstGeom>
          <a:noFill/>
          <a:ln>
            <a:noFill/>
          </a:ln>
        </p:spPr>
        <p:txBody>
          <a:bodyPr spcFirstLastPara="1" wrap="square" lIns="91425" tIns="91425" rIns="91425" bIns="91425" anchor="t" anchorCtr="0">
            <a:spAutoFit/>
          </a:bodyPr>
          <a:lstStyle/>
          <a:p>
            <a:pPr marL="285750" marR="0" lvl="0" indent="-285750" algn="just" rtl="0">
              <a:spcBef>
                <a:spcPts val="0"/>
              </a:spcBef>
              <a:spcAft>
                <a:spcPts val="0"/>
              </a:spcAft>
              <a:buClr>
                <a:srgbClr val="000000"/>
              </a:buClr>
              <a:buSzPts val="1700"/>
              <a:buFont typeface="Arial" panose="020B0604020202020204" pitchFamily="34" charset="0"/>
              <a:buChar char="•"/>
            </a:pPr>
            <a:r>
              <a:rPr lang="en-US"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Datasets:</a:t>
            </a:r>
            <a:r>
              <a:rPr lang="en-IN" altLang="en-US" sz="1700" b="1"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BRISC 2025 Dataset - Brain MRI dataset for binary tumor classification. Kaggle. https://www.kaggle.com/datasets/briscdataset/brisc2025</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Figshar</a:t>
            </a:r>
            <a:r>
              <a:rPr lang="en-IN"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e</a:t>
            </a: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Dataset -Multi-source brain tumor MRI dataset compiled by Masoud Nickparvar. Kaggle. https://www.kaggle.com/datasets/masoudnickparvar/brain-tumor-mri-dataset</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M. D. I. K. Hira, M. D. S. Hossain, and M. S. T. M. A. Bithee, “Brain tumor MRI dataset,” Mendeley Data, V1, 2025. [Online]. Available: </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https://doi.org/10.17632/zwr4ntf94j.1</a:t>
            </a: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 Ghaffar, “Brain tumor data,” Mendeley Data, V1, 2024. [Online].Available: https://doi.org/10.17632/w4sw3s9f59.1</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A. Shihab, “Brain tumor MRI dataset for deep learning,” Kaggle.[Online]. Available: https://www.kaggle.com/datasets/alamshihab075/brain-tumor-mri-dataset-for-deep-learning</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 DeepPythonist, “Brain tumor MRI dataset,” Kaggle. [Online]. Available: </a:t>
            </a:r>
            <a:r>
              <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rPr>
              <a:t>https://www.kaggle.com/datasets/deeppythonist/brain-tumor-mri-dataset</a:t>
            </a:r>
            <a:endParaRPr lang="en-US" altLang="en-US" sz="1700">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DANN &amp; GRL (Phase 2): Ganin, Y., et al. (2016). "Domain-adversarial training of neural networks." Journal of Machine Learning Research, vol. 17, no. 1, pp. 2096–2030.</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ResNet-18 Architecture: He, K., Zhang, S., Ren, S., and Sun, J. (2016). "Deep residual learning for image recognition." In Proceedings of the IEEE Conference on Computer Vision and Pattern Recognition (CVPR), pp. 770–778.</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342900" marR="0" lvl="0" indent="-342900" algn="just" rtl="0">
              <a:spcBef>
                <a:spcPts val="0"/>
              </a:spcBef>
              <a:spcAft>
                <a:spcPts val="0"/>
              </a:spcAft>
              <a:buClr>
                <a:srgbClr val="000000"/>
              </a:buClr>
              <a:buSzPts val="1700"/>
              <a:buFont typeface="+mj-lt"/>
              <a:buAutoNum type="arabicPeriod" startAt="16"/>
            </a:pPr>
            <a:r>
              <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rPr>
              <a:t>pHash Deduplication Logic: Zauner, C. (2010). "Implementation and benchmarking of perceptual image hash functions." M.S. thesis, Upper Austria University of Applied Sciences.</a:t>
            </a: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a:p>
            <a:pPr marL="285750" marR="0" lvl="0" indent="-285750" algn="just" rtl="0">
              <a:spcBef>
                <a:spcPts val="0"/>
              </a:spcBef>
              <a:spcAft>
                <a:spcPts val="0"/>
              </a:spcAft>
              <a:buClr>
                <a:srgbClr val="000000"/>
              </a:buClr>
              <a:buSzPts val="1700"/>
              <a:buFont typeface="Arial" panose="020B0604020202020204" pitchFamily="34" charset="0"/>
              <a:buChar char="•"/>
            </a:pPr>
            <a:endParaRPr lang="en-US" altLang="en-US" sz="1700" b="0" i="0" u="none" strike="noStrike" cap="none">
              <a:solidFill>
                <a:srgbClr val="666666"/>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4"/>
        <p:cNvGrpSpPr/>
        <p:nvPr/>
      </p:nvGrpSpPr>
      <p:grpSpPr>
        <a:xfrm>
          <a:off x="0" y="0"/>
          <a:ext cx="0" cy="0"/>
          <a:chOff x="0" y="0"/>
          <a:chExt cx="0" cy="0"/>
        </a:xfrm>
      </p:grpSpPr>
      <p:sp>
        <p:nvSpPr>
          <p:cNvPr id="106" name="Google Shape;106;p4"/>
          <p:cNvSpPr txBox="1"/>
          <p:nvPr/>
        </p:nvSpPr>
        <p:spPr>
          <a:xfrm>
            <a:off x="4595812" y="2967350"/>
            <a:ext cx="3000375" cy="923299"/>
          </a:xfrm>
          <a:prstGeom prst="rect">
            <a:avLst/>
          </a:prstGeom>
          <a:noFill/>
          <a:ln>
            <a:noFill/>
          </a:ln>
        </p:spPr>
        <p:txBody>
          <a:bodyPr spcFirstLastPara="1" wrap="square" lIns="91425" tIns="91425" rIns="91425" bIns="91425" anchor="t" anchorCtr="0">
            <a:spAutoFit/>
          </a:bodyPr>
          <a:lstStyle/>
          <a:p>
            <a:pPr marR="0" lvl="0" algn="ctr" rtl="0">
              <a:spcBef>
                <a:spcPts val="0"/>
              </a:spcBef>
              <a:spcAft>
                <a:spcPts val="0"/>
              </a:spcAft>
              <a:buClr>
                <a:srgbClr val="000000"/>
              </a:buClr>
              <a:buSzPts val="1700"/>
            </a:pPr>
            <a:r>
              <a:rPr lang="en-IN" sz="4800" b="1" dirty="0">
                <a:solidFill>
                  <a:schemeClr val="tx1"/>
                </a:solidFill>
              </a:rPr>
              <a:t>Q&amp;A</a:t>
            </a:r>
            <a:endParaRPr sz="4800" b="1" dirty="0">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0"/>
        <p:cNvGrpSpPr/>
        <p:nvPr/>
      </p:nvGrpSpPr>
      <p:grpSpPr>
        <a:xfrm>
          <a:off x="0" y="0"/>
          <a:ext cx="0" cy="0"/>
          <a:chOff x="0" y="0"/>
          <a:chExt cx="0" cy="0"/>
        </a:xfrm>
      </p:grpSpPr>
      <p:sp>
        <p:nvSpPr>
          <p:cNvPr id="111" name="Google Shape;11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p>
        </p:txBody>
      </p:sp>
    </p:spTree>
  </p:cSld>
  <p:clrMapOvr>
    <a:masterClrMapping/>
  </p:clrMapOvr>
</p:sld>
</file>

<file path=ppt/tags/tag1.xml><?xml version="1.0" encoding="utf-8"?>
<p:tagLst xmlns:p="http://schemas.openxmlformats.org/presentationml/2006/main">
  <p:tag name="TABLE_ENDDRAG_ORIGIN_RECT" val="613*373"/>
  <p:tag name="TABLE_ENDDRAG_RECT" val="50*109*613*373"/>
</p:tagLst>
</file>

<file path=ppt/tags/tag2.xml><?xml version="1.0" encoding="utf-8"?>
<p:tagLst xmlns:p="http://schemas.openxmlformats.org/presentationml/2006/main">
  <p:tag name="TABLE_ENDDRAG_ORIGIN_RECT" val="856*372"/>
  <p:tag name="TABLE_ENDDRAG_RECT" val="50*110*856*372"/>
</p:tagLst>
</file>

<file path=ppt/tags/tag3.xml><?xml version="1.0" encoding="utf-8"?>
<p:tagLst xmlns:p="http://schemas.openxmlformats.org/presentationml/2006/main">
  <p:tag name="TABLE_ENDDRAG_ORIGIN_RECT" val="748*395"/>
  <p:tag name="TABLE_ENDDRAG_RECT" val="105*86*748*395"/>
</p:tagLst>
</file>

<file path=ppt/tags/tag4.xml><?xml version="1.0" encoding="utf-8"?>
<p:tagLst xmlns:p="http://schemas.openxmlformats.org/presentationml/2006/main">
  <p:tag name="TABLE_ENDDRAG_ORIGIN_RECT" val="748*405"/>
  <p:tag name="TABLE_ENDDRAG_RECT" val="105*86*748*405"/>
</p:tagLst>
</file>

<file path=ppt/tags/tag5.xml><?xml version="1.0" encoding="utf-8"?>
<p:tagLst xmlns:p="http://schemas.openxmlformats.org/presentationml/2006/main">
  <p:tag name="TABLE_ENDDRAG_ORIGIN_RECT" val="811*423"/>
  <p:tag name="TABLE_ENDDRAG_RECT" val="79*94*811*423"/>
</p:tagLst>
</file>

<file path=ppt/tags/tag6.xml><?xml version="1.0" encoding="utf-8"?>
<p:tagLst xmlns:p="http://schemas.openxmlformats.org/presentationml/2006/main">
  <p:tag name="TABLE_ENDDRAG_ORIGIN_RECT" val="811*423"/>
  <p:tag name="TABLE_ENDDRAG_RECT" val="79*94*811*423"/>
</p:tagLst>
</file>

<file path=ppt/tags/tag7.xml><?xml version="1.0" encoding="utf-8"?>
<p:tagLst xmlns:p="http://schemas.openxmlformats.org/presentationml/2006/main">
  <p:tag name="TABLE_ENDDRAG_ORIGIN_RECT" val="840*409"/>
  <p:tag name="TABLE_ENDDRAG_RECT" val="50*96*840*409"/>
</p:tagLst>
</file>

<file path=ppt/tags/tag8.xml><?xml version="1.0" encoding="utf-8"?>
<p:tagLst xmlns:p="http://schemas.openxmlformats.org/presentationml/2006/main">
  <p:tag name="TABLE_ENDDRAG_ORIGIN_RECT" val="658*387"/>
  <p:tag name="TABLE_ENDDRAG_RECT" val="103*126*658*387"/>
</p:tagLst>
</file>

<file path=ppt/tags/tag9.xml><?xml version="1.0" encoding="utf-8"?>
<p:tagLst xmlns:p="http://schemas.openxmlformats.org/presentationml/2006/main">
  <p:tag name="TABLE_ENDDRAG_ORIGIN_RECT" val="823*389"/>
  <p:tag name="TABLE_ENDDRAG_RECT" val="50*103*823*389"/>
</p:tagLst>
</file>

<file path=ppt/tags/tag10.xml><?xml version="1.0" encoding="utf-8"?>
<p:tagLst xmlns:p="http://schemas.openxmlformats.org/presentationml/2006/main">
  <p:tag name="TABLE_ENDDRAG_ORIGIN_RECT" val="825*369"/>
  <p:tag name="TABLE_ENDDRAG_RECT" val="58*105*825*369"/>
</p:tagLst>
</file>

<file path=ppt/tags/tag11.xml><?xml version="1.0" encoding="utf-8"?>
<p:tagLst xmlns:p="http://schemas.openxmlformats.org/presentationml/2006/main">
  <p:tag name="TABLE_ENDDRAG_ORIGIN_RECT" val="864*358"/>
  <p:tag name="TABLE_ENDDRAG_RECT" val="48*103*864*358"/>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27912</Words>
  <Application>WPS Presentation</Application>
  <PresentationFormat>Widescreen</PresentationFormat>
  <Paragraphs>1390</Paragraphs>
  <Slides>38</Slides>
  <Notes>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38</vt:i4>
      </vt:variant>
    </vt:vector>
  </HeadingPairs>
  <TitlesOfParts>
    <vt:vector size="48" baseType="lpstr">
      <vt:lpstr>Arial</vt:lpstr>
      <vt:lpstr>SimSun</vt:lpstr>
      <vt:lpstr>Wingdings</vt:lpstr>
      <vt:lpstr>Arial</vt:lpstr>
      <vt:lpstr>Calibri</vt:lpstr>
      <vt:lpstr>Proxima Nova</vt:lpstr>
      <vt:lpstr>Proxima Nova</vt:lpstr>
      <vt:lpstr>Microsoft YaHei</vt:lpstr>
      <vt:lpstr>Arial Unicode MS</vt:lpstr>
      <vt:lpstr>Office Theme</vt:lpstr>
      <vt:lpstr>PowerPoint 演示文稿</vt:lpstr>
      <vt:lpstr>PowerPoint 演示文稿</vt:lpstr>
      <vt:lpstr>Outline</vt:lpstr>
      <vt:lpstr>Abstract</vt:lpstr>
      <vt:lpstr>Introduction </vt:lpstr>
      <vt:lpstr>Introduction </vt:lpstr>
      <vt:lpstr> Literature Review</vt:lpstr>
      <vt:lpstr> Literature Review</vt:lpstr>
      <vt:lpstr>Research Gap</vt:lpstr>
      <vt:lpstr>Problem Statement</vt:lpstr>
      <vt:lpstr>Objective</vt:lpstr>
      <vt:lpstr>Data Collection - Phase 1</vt:lpstr>
      <vt:lpstr>Data Collection(Preduplication) - Phase 2</vt:lpstr>
      <vt:lpstr>Dataset Roles - Phase 2</vt:lpstr>
      <vt:lpstr>Data Deduplication - Phase 2</vt:lpstr>
      <vt:lpstr>Proposed System (Description)</vt:lpstr>
      <vt:lpstr>Proposed System (Phase - 1 Flow Diagram)</vt:lpstr>
      <vt:lpstr>Proposed System (Phase - 2 Flow Diagram)</vt:lpstr>
      <vt:lpstr>Proposed System (Gantt chart)</vt:lpstr>
      <vt:lpstr>Tools And Technicannology</vt:lpstr>
      <vt:lpstr>Preprocessing Pipeline </vt:lpstr>
      <vt:lpstr>Preprocessing Pipeline </vt:lpstr>
      <vt:lpstr>Preprocessing Pipeline</vt:lpstr>
      <vt:lpstr>Methodology (phase 1)</vt:lpstr>
      <vt:lpstr>Methodology (phase 2)</vt:lpstr>
      <vt:lpstr>Evaluation &amp; Results(BRISC 2025)</vt:lpstr>
      <vt:lpstr>Evaluation &amp; Results(Phase 1)</vt:lpstr>
      <vt:lpstr>Evaluation &amp; Results(phase 2)(Interal and external validation)</vt:lpstr>
      <vt:lpstr>Evaluation &amp; Results(Figshare[17])(Phase 1)</vt:lpstr>
      <vt:lpstr>Evaluation &amp; Results(Ayesha[19])(Phase 2)</vt:lpstr>
      <vt:lpstr>Evaluation &amp; Results(Alam[20])(Phase 2)</vt:lpstr>
      <vt:lpstr>Novelty / Our Contribution</vt:lpstr>
      <vt:lpstr>Conclusion</vt:lpstr>
      <vt:lpstr>References </vt:lpstr>
      <vt:lpstr>References </vt:lpstr>
      <vt:lpstr>References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Hemanshu</cp:lastModifiedBy>
  <cp:revision>205</cp:revision>
  <dcterms:created xsi:type="dcterms:W3CDTF">2023-12-05T07:58:00Z</dcterms:created>
  <dcterms:modified xsi:type="dcterms:W3CDTF">2026-04-10T17:37:05Z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0AC8CD9891F84848B10FBE47ED5721CA_13</vt:lpwstr>
  </property>
  <property fmtid="{D5CDD505-2E9C-101B-9397-08002B2CF9AE}" pid="10" name="KSOProductBuildVer">
    <vt:lpwstr>1033-12.1.0.25242</vt:lpwstr>
  </property>
</Properties>
</file>